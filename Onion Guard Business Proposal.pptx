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30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07" r:id="rId30"/>
    <p:sldId id="282" r:id="rId31"/>
    <p:sldId id="283" r:id="rId32"/>
    <p:sldId id="309" r:id="rId33"/>
    <p:sldId id="284" r:id="rId34"/>
    <p:sldId id="285" r:id="rId35"/>
    <p:sldId id="287" r:id="rId36"/>
    <p:sldId id="303" r:id="rId37"/>
    <p:sldId id="304" r:id="rId38"/>
    <p:sldId id="302" r:id="rId39"/>
    <p:sldId id="292" r:id="rId40"/>
    <p:sldId id="310" r:id="rId41"/>
    <p:sldId id="293" r:id="rId42"/>
    <p:sldId id="295" r:id="rId43"/>
    <p:sldId id="296" r:id="rId44"/>
    <p:sldId id="297" r:id="rId45"/>
    <p:sldId id="298" r:id="rId46"/>
    <p:sldId id="299" r:id="rId47"/>
    <p:sldId id="300" r:id="rId48"/>
    <p:sldId id="305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24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304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80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359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05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2423160"/>
            <a:ext cx="2011680" cy="2011680"/>
          </a:xfrm>
          <a:prstGeom prst="ellipse">
            <a:avLst/>
          </a:prstGeom>
          <a:ln w="12700">
            <a:solidFill>
              <a:srgbClr val="E8A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29416" y="2139696"/>
            <a:ext cx="2578608" cy="2578608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45952" y="1856232"/>
            <a:ext cx="3145536" cy="3145536"/>
          </a:xfrm>
          <a:prstGeom prst="ellipse">
            <a:avLst/>
          </a:prstGeom>
          <a:ln w="12700">
            <a:solidFill>
              <a:srgbClr val="E8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62488" y="1572768"/>
            <a:ext cx="3712464" cy="3712464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9024" y="1289304"/>
            <a:ext cx="4279392" cy="4279392"/>
          </a:xfrm>
          <a:prstGeom prst="ellipse">
            <a:avLst/>
          </a:prstGeom>
          <a:ln w="12700">
            <a:solidFill>
              <a:srgbClr val="E8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 NKABOM HONOURS PROGRAMME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1861" y="1711518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ONION GUARD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1036015" y="327196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Proposal for Six-Month Product Development, Field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Public Launch, Visibility and Commercialisation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99855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PROPOSAL  |  2026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83EEFD-904E-4501-8665-F55819F81E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64" t="33333" r="17723" b="54058"/>
          <a:stretch/>
        </p:blipFill>
        <p:spPr>
          <a:xfrm>
            <a:off x="117281" y="5771653"/>
            <a:ext cx="5277679" cy="864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96AFA-F43F-46A8-A3D0-4B965F052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8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333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Strategic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to prototype to a validated, visible and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B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 positioned agricultural technology platform.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5029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83480" y="502920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81381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programme, the journey, the problem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106424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6128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161288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&amp; 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47218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Onion Guard and its ecosystem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764792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196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1819656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Stakeholders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213055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institutions and their roles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423160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4780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2478024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Strategy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278892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the big idea, the framework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3081528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1363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83480" y="3136392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Storytelling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83480" y="344728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Pillars, weekly system, amplification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739896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7947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Execution Roadmap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83480" y="4105656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plan, launch, field testing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97680" y="4398264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445312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983480" y="4453128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Commercialisation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83480" y="476402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partnerships, revenue model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5056632"/>
            <a:ext cx="7315200" cy="0"/>
          </a:xfrm>
          <a:prstGeom prst="line">
            <a:avLst/>
          </a:prstGeom>
          <a:noFill/>
          <a:ln w="9525">
            <a:solidFill>
              <a:srgbClr val="D8DE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51114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983480" y="5111496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Budget &amp; Measurement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983480" y="542239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LogFrame, budget, KPIs, risk, outcomes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68735" y="6355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88697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emerged from field research, honest conversation with traders, and a scholar team willing to build.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UG Nkabom Honours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92024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UG Nkabom Honours Programme is a collaborative initiative of the University of Ghana, McGill University and the Mastercard Foundation, developed to give scholars hands-on experience turning research into applied innovation.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is a project developed by scholars of the inaugural cohort of the programme, in response to challenges identified within Ghana's agri-food system.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pairs academic training with real fieldwork, requiring scholars to identify a genuine problem, research it directly with the people affected, and design a working response.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is therefore not a homegrown, research-informed agricultural technology built by young Ghanaian innovators for a problem they investigated first-hand.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SO FAR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2194560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6600" y="2651760"/>
            <a:ext cx="0" cy="365760"/>
          </a:xfrm>
          <a:prstGeom prst="line">
            <a:avLst/>
          </a:prstGeom>
          <a:noFill/>
          <a:ln w="19050">
            <a:solidFill>
              <a:srgbClr val="D8DED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452360" y="2167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3017520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3474720"/>
            <a:ext cx="0" cy="365760"/>
          </a:xfrm>
          <a:prstGeom prst="line">
            <a:avLst/>
          </a:prstGeom>
          <a:noFill/>
          <a:ln w="19050">
            <a:solidFill>
              <a:srgbClr val="D8DED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452360" y="2990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3840480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4297680"/>
            <a:ext cx="0" cy="365760"/>
          </a:xfrm>
          <a:prstGeom prst="line">
            <a:avLst/>
          </a:prstGeom>
          <a:noFill/>
          <a:ln w="19050">
            <a:solidFill>
              <a:srgbClr val="D8DED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52360" y="381304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4663440"/>
            <a:ext cx="457200" cy="457200"/>
          </a:xfrm>
          <a:prstGeom prst="ellipse">
            <a:avLst/>
          </a:prstGeom>
          <a:solidFill>
            <a:srgbClr val="1F4D3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5120640"/>
            <a:ext cx="0" cy="365760"/>
          </a:xfrm>
          <a:prstGeom prst="line">
            <a:avLst/>
          </a:prstGeom>
          <a:noFill/>
          <a:ln w="19050">
            <a:solidFill>
              <a:srgbClr val="D8DED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452360" y="46360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5486400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54589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Connected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crop production challenges are identified only after they have already caused significant damage or financial loss.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other agri-food stakeholders have limited accessible tools for early disease identification, timely agricultural information, market connections and food safety assessment.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a promising technology solution exists, it is rarely used by the people and institutions that need it most.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PROGRAMME CHALLENGE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513892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move Onion Guard from a working prototype to a tested, improved, visible, adopted and commercially positioned solution?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2240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make the product better?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0" y="3977640"/>
            <a:ext cx="4709160" cy="2057400"/>
          </a:xfrm>
          <a:prstGeom prst="roundRect">
            <a:avLst>
              <a:gd name="adj" fmla="val 3556"/>
            </a:avLst>
          </a:prstGeom>
          <a:solidFill>
            <a:srgbClr val="FBEEE4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4160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78040" y="4526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get the right people to know about it, use it, adopt it, and potentially pay for it?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NUMBERS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Behind the Innovation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field research was conducted across three major onion trading hubs in Greater Accra, engaging 38 onion traders directly.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Makola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Agbogbloshie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1945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Adjen Kotoku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2194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onion traders engaged across all three markets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493008"/>
            <a:ext cx="33467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58368" y="4398264"/>
            <a:ext cx="33467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onion loss rate per batch across the sample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53128" y="3493008"/>
            <a:ext cx="33467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453128" y="4398264"/>
            <a:ext cx="33467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surveyed traders owned a smartphone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47888" y="3493008"/>
            <a:ext cx="33467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73.7%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247888" y="4398264"/>
            <a:ext cx="33467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interest in a buyer-facing e-commerce application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INSIGHTS: the onion value chain contains some inefficiencies and risks, and most potential users already own smartphones and want digital tools.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&amp; PRODUCT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34193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sits at the intersection of </a:t>
            </a:r>
            <a:r>
              <a:rPr lang="en-US" sz="2800" dirty="0" err="1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agrifood</a:t>
            </a:r>
            <a:r>
              <a:rPr lang="en-US" sz="28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AI, mobile technology and young Ghanaian innovation. The next six months decide what it becomes.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5015" y="24819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17D546-016D-46DA-A185-D3B696C26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804" y="735878"/>
            <a:ext cx="8384391" cy="55874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Onion Guard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agricultural technology platform built around four core functions.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48840"/>
            <a:ext cx="2606040" cy="82296"/>
          </a:xfrm>
          <a:prstGeom prst="roundRect">
            <a:avLst/>
          </a:prstGeom>
          <a:solidFill>
            <a:srgbClr val="1F4D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image scanning to detect potential onion and plant diseases before losses occur.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2148840"/>
            <a:ext cx="2606040" cy="82296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204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3383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agricultural information and guidance delivered directly to the user.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148840"/>
            <a:ext cx="2606040" cy="82296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farmers with buyers and potential markets, reducing fragmentation in the value chain.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1540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5400" y="2148840"/>
            <a:ext cx="2606040" cy="82296"/>
          </a:xfrm>
          <a:prstGeom prst="roundRect">
            <a:avLst/>
          </a:prstGeom>
          <a:solidFill>
            <a:srgbClr val="8F4520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F4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0982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98280" y="3383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consumers in assessing the safety and quality of onions before consumption.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 →  ADVISE  →  CONNECT  →  CHECK   —  one continuous journey from field to plate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4F9F5F-30B2-426D-A727-4EB65ED1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4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Wider Product Ecosystem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Local-language voice guidance, so the product is accessible regardless of literacy level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authentication for secure, reliable access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agricultural advisory support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 to track history, treatment and yield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features connecting farmers directly to buyers</a:t>
            </a:r>
            <a:endParaRPr lang="en-US" sz="1300" dirty="0"/>
          </a:p>
          <a:p>
            <a:pPr marL="203200" indent="-203200">
              <a:lnSpc>
                <a:spcPct val="112000"/>
              </a:lnSpc>
              <a:spcAft>
                <a:spcPts val="1400"/>
              </a:spcAft>
              <a:buSzPct val="100000"/>
              <a:buChar char="■"/>
            </a:pPr>
            <a:r>
              <a:rPr lang="en-US" sz="13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reporting functions for institutional partners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ONION GUARD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Product and Building the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7373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1945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9698" y="20802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10866" y="17373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10866" y="17373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5" name="Text 13"/>
          <p:cNvSpPr/>
          <p:nvPr/>
        </p:nvSpPr>
        <p:spPr>
          <a:xfrm>
            <a:off x="2938882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8882" y="21945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1923" y="20802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73091" y="17373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3091" y="17373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20" name="Text 18"/>
          <p:cNvSpPr/>
          <p:nvPr/>
        </p:nvSpPr>
        <p:spPr>
          <a:xfrm>
            <a:off x="5201107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1107" y="21945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4149" y="20802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35317" y="17373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24" name="Shape 22"/>
          <p:cNvSpPr/>
          <p:nvPr/>
        </p:nvSpPr>
        <p:spPr>
          <a:xfrm>
            <a:off x="7335317" y="17373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25" name="Text 23"/>
          <p:cNvSpPr/>
          <p:nvPr/>
        </p:nvSpPr>
        <p:spPr>
          <a:xfrm>
            <a:off x="7463333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3333" y="21945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96374" y="20802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97542" y="17373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7542" y="17373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30" name="Text 28"/>
          <p:cNvSpPr/>
          <p:nvPr/>
        </p:nvSpPr>
        <p:spPr>
          <a:xfrm>
            <a:off x="9725558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25558" y="21945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ONION GUARD IS TODAY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PHASE MUST MOVE THE PRODUCT TOWARD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3375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FBEEE4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3375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656" y="37947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09698" y="36804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810866" y="33375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FBEEE4"/>
          </a:solidFill>
          <a:ln/>
        </p:spPr>
      </p:sp>
      <p:sp>
        <p:nvSpPr>
          <p:cNvPr id="40" name="Shape 38"/>
          <p:cNvSpPr/>
          <p:nvPr/>
        </p:nvSpPr>
        <p:spPr>
          <a:xfrm>
            <a:off x="2810866" y="33375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41" name="Text 39"/>
          <p:cNvSpPr/>
          <p:nvPr/>
        </p:nvSpPr>
        <p:spPr>
          <a:xfrm>
            <a:off x="2938882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938882" y="37947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71923" y="36804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73091" y="33375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FBEEE4"/>
          </a:solidFill>
          <a:ln/>
        </p:spPr>
      </p:sp>
      <p:sp>
        <p:nvSpPr>
          <p:cNvPr id="45" name="Shape 43"/>
          <p:cNvSpPr/>
          <p:nvPr/>
        </p:nvSpPr>
        <p:spPr>
          <a:xfrm>
            <a:off x="5073091" y="33375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46" name="Text 44"/>
          <p:cNvSpPr/>
          <p:nvPr/>
        </p:nvSpPr>
        <p:spPr>
          <a:xfrm>
            <a:off x="5201107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01107" y="37947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34149" y="36804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35317" y="33375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FBEEE4"/>
          </a:solidFill>
          <a:ln/>
        </p:spPr>
      </p:sp>
      <p:sp>
        <p:nvSpPr>
          <p:cNvPr id="50" name="Shape 48"/>
          <p:cNvSpPr/>
          <p:nvPr/>
        </p:nvSpPr>
        <p:spPr>
          <a:xfrm>
            <a:off x="7335317" y="33375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51" name="Text 49"/>
          <p:cNvSpPr/>
          <p:nvPr/>
        </p:nvSpPr>
        <p:spPr>
          <a:xfrm>
            <a:off x="7463333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63333" y="37947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396374" y="36804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597542" y="3337560"/>
            <a:ext cx="2061058" cy="1051560"/>
          </a:xfrm>
          <a:prstGeom prst="roundRect">
            <a:avLst>
              <a:gd name="adj" fmla="val 6957"/>
            </a:avLst>
          </a:prstGeom>
          <a:solidFill>
            <a:srgbClr val="FBEEE4"/>
          </a:solidFill>
          <a:ln/>
        </p:spPr>
      </p:sp>
      <p:sp>
        <p:nvSpPr>
          <p:cNvPr id="55" name="Shape 53"/>
          <p:cNvSpPr/>
          <p:nvPr/>
        </p:nvSpPr>
        <p:spPr>
          <a:xfrm>
            <a:off x="9597542" y="3337560"/>
            <a:ext cx="2061058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56" name="Text 54"/>
          <p:cNvSpPr/>
          <p:nvPr/>
        </p:nvSpPr>
        <p:spPr>
          <a:xfrm>
            <a:off x="9725558" y="3447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725558" y="3794760"/>
            <a:ext cx="180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864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724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PRODUCT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7724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test and refine the application itself.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17220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0080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MARKET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640080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awareness, attract users, build partnerships and test commercial opportunities.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STAKEHOLDERS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1419" y="3156669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serves farmers, extension officers, buyers and consumers directly, while institutions become the strongest path to commercial scale.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Onion Guard Serves 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CONVERSION PATH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691640"/>
            <a:ext cx="73152" cy="1051560"/>
          </a:xfrm>
          <a:prstGeom prst="roundRect">
            <a:avLst/>
          </a:prstGeom>
          <a:solidFill>
            <a:srgbClr val="1F4D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916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disease ID, agricultural information, practical guidance, better buyer access, affordable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→ TEST → USE → RETURN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852928"/>
            <a:ext cx="73152" cy="1051560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5292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EXTENSION OFFICERS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85292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support multiple farmers, faster access to information, digital support for field services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285292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→ VALIDATE → RECOMMEND → ADOPT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9EFE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014216"/>
            <a:ext cx="73152" cy="1051560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14216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&amp; AGGREGATORS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014216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farmers and producers, more efficient market linkages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014216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→ CONNECT → TRANSACT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75504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175504"/>
            <a:ext cx="73152" cy="1051560"/>
          </a:xfrm>
          <a:prstGeom prst="roundRect">
            <a:avLst/>
          </a:prstGeom>
          <a:solidFill>
            <a:srgbClr val="8F452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75504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5175504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confidence in food quality and safety, accessible information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5175504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i="1" dirty="0">
                <a:solidFill>
                  <a:srgbClr val="8F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CHECK → TRUST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&amp; COMMERCIAL STAKEHOLDERS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Organisations That Can Scale Onion Guard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MAY INCLUDE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751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agricultural agencies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11880" y="19751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3904488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development organisations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50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Farmer-based organisations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450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3904488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Agribusinesses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2871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</a:t>
            </a:r>
            <a:r>
              <a:rPr lang="en-US" sz="1050" dirty="0" err="1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innovation hubs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2926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1622D"/>
          </a:solidFill>
          <a:ln/>
        </p:spPr>
      </p:sp>
      <p:sp>
        <p:nvSpPr>
          <p:cNvPr id="20" name="Text 18"/>
          <p:cNvSpPr/>
          <p:nvPr/>
        </p:nvSpPr>
        <p:spPr>
          <a:xfrm>
            <a:off x="3904488" y="28712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institutions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0" y="160020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POTENTIAL ROLE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214884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licenses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partners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■"/>
            </a:pPr>
            <a:r>
              <a:rPr lang="en-US" sz="1250" dirty="0">
                <a:solidFill>
                  <a:srgbClr val="E4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partners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Like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Awareness, Visibility, Conversion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E9EFE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Onion Guard from a functional prototype into a technically improved, tested, validated, visible and commercially positioned agricultural technology solution within six months.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97480"/>
            <a:ext cx="3566160" cy="82296"/>
          </a:xfrm>
          <a:prstGeom prst="roundRect">
            <a:avLst/>
          </a:prstGeom>
          <a:solidFill>
            <a:srgbClr val="1F4D3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32918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Onion Guard to agricultural, technology, business, innovation and institutional audiences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awareness of the problem the product addresses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scholars and innovators behind the product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awareness through the launch, digital content, media and strategic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6974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697480"/>
            <a:ext cx="3566160" cy="82296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8848" y="32918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26 core digital content pieces over six months (one per week)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media and PR opportunities around the launch and milestones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product-development journey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farm testing, events, pitches and product improvements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269748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697480"/>
            <a:ext cx="3566160" cy="82296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4788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7888" y="32918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engage beta testers; test across a minimum of five farms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at least five strategic events, showcases or pitch sessions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toward up to three signed MOUs by Month 5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interest in licensing, sponsorship, subscriptions and advertising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GROWTH TARGETS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Conversion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84708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8368" y="291693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testers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recruited in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53128" y="184708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453128" y="291693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47888" y="184708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47888" y="291693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daily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by end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 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408736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58368" y="515721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tested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53128" y="408736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4453128" y="515721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events,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or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sessions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47888" y="4087368"/>
            <a:ext cx="3300984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8247888" y="5157216"/>
            <a:ext cx="330098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MOUs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COULD?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innovation begins with a question. For Onion Guard, the question keeps expanding, and the six-month programme becomes the process of answering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identify crop disease earlier?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514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514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help farmers easily access helpful information?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66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connect farmers to buyers?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566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make food safety information more accessible?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17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young Ghanaian innovators could build solutions for the challenges around them?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46177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1E453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617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prototype could become a nationwide adopted product?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 TEST IT.  LEARN FROM PEOPLE.  IMPROVE IT.  TAKE IT FURTHER.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to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gap in Ghana's onion value chain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33828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3828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2561844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1844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1844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mobile and youth innovation converge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9016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21" name="Shape 19"/>
          <p:cNvSpPr/>
          <p:nvPr/>
        </p:nvSpPr>
        <p:spPr>
          <a:xfrm>
            <a:off x="4319016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22" name="Text 20"/>
          <p:cNvSpPr/>
          <p:nvPr/>
        </p:nvSpPr>
        <p:spPr>
          <a:xfrm>
            <a:off x="4447032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7032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47032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application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4204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4204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28" name="Text 26"/>
          <p:cNvSpPr/>
          <p:nvPr/>
        </p:nvSpPr>
        <p:spPr>
          <a:xfrm>
            <a:off x="6332220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2220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2220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 and real user feedback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89392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33" name="Shape 31"/>
          <p:cNvSpPr/>
          <p:nvPr/>
        </p:nvSpPr>
        <p:spPr>
          <a:xfrm>
            <a:off x="8089392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34" name="Text 32"/>
          <p:cNvSpPr/>
          <p:nvPr/>
        </p:nvSpPr>
        <p:spPr>
          <a:xfrm>
            <a:off x="8217408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17408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17408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engage and pilot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974580" y="1691640"/>
            <a:ext cx="1684020" cy="1600200"/>
          </a:xfrm>
          <a:prstGeom prst="roundRect">
            <a:avLst>
              <a:gd name="adj" fmla="val 4571"/>
            </a:avLst>
          </a:prstGeom>
          <a:solidFill>
            <a:srgbClr val="E9EFE7"/>
          </a:solidFill>
          <a:ln/>
        </p:spPr>
      </p:sp>
      <p:sp>
        <p:nvSpPr>
          <p:cNvPr id="39" name="Shape 37"/>
          <p:cNvSpPr/>
          <p:nvPr/>
        </p:nvSpPr>
        <p:spPr>
          <a:xfrm>
            <a:off x="9974580" y="1691640"/>
            <a:ext cx="1684020" cy="54864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40" name="Text 38"/>
          <p:cNvSpPr/>
          <p:nvPr/>
        </p:nvSpPr>
        <p:spPr>
          <a:xfrm>
            <a:off x="10102596" y="1801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02596" y="2148840"/>
            <a:ext cx="1427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102596" y="2587752"/>
            <a:ext cx="1427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scale pathway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37033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" y="3886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4434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problem, the product and the people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70632" y="37033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907792" y="3886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907792" y="4434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amplify the journey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92624" y="37033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129784" y="3886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29784" y="4434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product with real users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14616" y="37033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51776" y="3886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51776" y="4434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interested stakeholders toward action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436608" y="370332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573768" y="3886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573768" y="44348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validated interest into partnerships and revenue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STORYTELLING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Programme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Content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Content Pillars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ACTIVITY  →  STORY  →  DIGITAL AMPLIFICATION  →  INTEREST  →  ACTION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3566160" cy="82296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Onion Guard can do and why it matters.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farmer experiences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benefits &amp; testing outcomes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solution stories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value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103120"/>
            <a:ext cx="3566160" cy="82296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INNOVATION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98848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people and process behind the product.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98848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scholars &amp; the team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process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ideas &amp; technical challenges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discoveries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21031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2103120"/>
            <a:ext cx="3566160" cy="82296"/>
          </a:xfrm>
          <a:prstGeom prst="round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47888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WITH ONION GUARD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7888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genuinely useful information.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47888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health &amp; agricultural education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 AI in agriculture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tutorials &amp; walkthroughs</a:t>
            </a:r>
            <a:endParaRPr lang="en-US" sz="950" dirty="0"/>
          </a:p>
          <a:p>
            <a:pPr marL="203200" indent="-203200">
              <a:lnSpc>
                <a:spcPct val="112000"/>
              </a:lnSpc>
              <a:spcAft>
                <a:spcPts val="600"/>
              </a:spcAft>
              <a:buSzPct val="100000"/>
              <a:buChar char="■"/>
            </a:pPr>
            <a:r>
              <a:rPr lang="en-US" sz="9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Weekly Content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473952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65946" y="6446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424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CONTENT PIECE PER WEEK   →   APPROXIMATELY 26 PIECES ACROSS SIX MONTHS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weekly piece connects directly to that month's real programme activity — and adapts into video, social posts, website content and media opportunities.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31089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solve a problem we'd already seen? · Meet the team · What did the research reveal? · Idea to prototype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850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83080" y="3685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begin testing · What does the app do? · What are we changing? · The countdown to launch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11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83080" y="42611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launch: What If We Could? · What happened at the showcase · Taking it to the field · First real-world test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371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4837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users say? · What did we change? · Testing the next version · Technology meets the real world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413248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13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83080" y="5413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meets the innovation ecosystem · Pitching the possibility · What adoption takes · Interest to partnership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E9EFE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989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83080" y="5989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have we learned? · What changed · What comes next · Could Onion Guard become Crop Guard?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EXECUTION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26851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D9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month-by-month plan that develops the product and the market at the same time. </a:t>
            </a:r>
            <a:endParaRPr lang="en-US" sz="2000" b="1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SIX-MONTH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1F4D3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Refine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5146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1F4D3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 &amp;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Launch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1960" y="25146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C1622D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Begin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5146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C1622D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Learn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Improve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92440" y="25146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1D355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6676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Partner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Commercialise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012680" y="25146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49840" y="173736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1D355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28700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28700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Scale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and Refine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F4D3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product, people and programme for testing.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INTEREST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technical gaps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features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AI model refinement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technical milestones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5+ potential farms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beta testers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extension officers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testing framework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potential institutional partners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sponsors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initial partnership proposition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problem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team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‘What If We Could?’ storytelling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early development</a:t>
            </a:r>
            <a:endParaRPr lang="en-US" sz="9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Test and Prepare to Launch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F4D3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product through early user feedback while preparing for public launch.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→ TRIAL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AI refinement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priority development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beta testing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technical issues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first iteration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initial beta testers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core functions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structured feedback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launch experience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demonstration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media materials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stakeholder invitations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launch invitees with partnership potential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early institutional conversations</a:t>
            </a:r>
            <a:endParaRPr lang="en-US" sz="9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D9FE1-106F-464E-883B-9FC2DAFEB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9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and Begin Field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C1622D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launch the refined product and begin real-world testing.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→ ENGAGEMENT → TRIAL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ACTIVITY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‘What If We Could?’ — the Onion Guard Innovation Showcase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together the problem, research, team, journey, product, stakeholders, and a live demonstration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testing Onion Guard on the first farms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the launch, the live demo, media coverage and stakeholder reactions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with launch attendees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qualified leads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partnership conversations</a:t>
            </a:r>
            <a:endParaRPr lang="en-US" sz="9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Learn and Improve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C1622D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real-world feedback to improve the product.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→ REPEAT USE → ADVOCACY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farm testing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3+ farms cumulatively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farmers and stakeholders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structured feedback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feedback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priority improvements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improvements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second iteration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</a:t>
            </a: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agrifood</a:t>
            </a: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agribusiness, innovation and technology events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AMPLIFICATION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farm testing, user experiences, challenges and improvements</a:t>
            </a:r>
            <a:endParaRPr lang="en-US" sz="9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D28CB-9E8A-458B-98B3-3CEF74E2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28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Pitch, Partner and Commercialise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355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product validation and visibility into concrete opportunities.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→ PARTNERSHIP → COMMERCIAL OPPORTUNITY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CircularEconomy4Ghana Innovation Challenge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Timbuktoo</a:t>
            </a: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Pan-African </a:t>
            </a: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</a:t>
            </a: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Incubation </a:t>
            </a: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Eagles Nest Agribusiness Pitch Arena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Food and Agriculture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Ghana Farms 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</a:t>
            </a:r>
            <a:endParaRPr lang="en-US" sz="980" dirty="0">
              <a:solidFill>
                <a:srgbClr val="4252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Research Institute (CSIR)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Timbuktoo</a:t>
            </a: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</a:t>
            </a: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Hub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 err="1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Agriseed</a:t>
            </a:r>
            <a:endParaRPr lang="en-US" sz="980" dirty="0">
              <a:solidFill>
                <a:srgbClr val="4252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 Ghana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Agogo Onion Farmers Association</a:t>
            </a:r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Onion Sellers and Importers Cooperative Society</a:t>
            </a:r>
          </a:p>
          <a:p>
            <a:pPr>
              <a:lnSpc>
                <a:spcPct val="112000"/>
              </a:lnSpc>
              <a:spcAft>
                <a:spcPts val="500"/>
              </a:spcAft>
              <a:buSzPct val="100000"/>
            </a:pPr>
            <a:endParaRPr lang="en-US" sz="980" dirty="0">
              <a:solidFill>
                <a:srgbClr val="4252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licensing, sponsored access, subscriptions, advertising and marketplace interest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qualified prospects toward pilots, proposals, letters of intent and MOUs</a:t>
            </a:r>
            <a:endParaRPr lang="en-US" sz="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 OF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and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1D3557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7007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pilot and define the next stage.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700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→ PARTNERSHIP → NEXT-STAGE ROADMAP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 review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technical performance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user feedback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remaining improvements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39471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471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testing results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user insights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adoption signals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078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078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customer segments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partnership pipeline</a:t>
            </a:r>
            <a:endParaRPr lang="en-US" sz="980" dirty="0"/>
          </a:p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strongest commercial pathways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9086850" y="2788920"/>
            <a:ext cx="257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86850" y="3108960"/>
            <a:ext cx="257175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500"/>
              </a:spcAft>
              <a:buSzPct val="100000"/>
              <a:buChar char="■"/>
            </a:pPr>
            <a:r>
              <a:rPr lang="en-US" sz="98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six-month story: what did we ask, build, learn, and what happens next</a:t>
            </a:r>
            <a:endParaRPr lang="en-US" sz="9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Testing Programme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ACROSS A MINIMUM OF FIVE FARMS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3246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36024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DABB44E4-A2C8-44E1-8502-2A17381AC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24174"/>
              </p:ext>
            </p:extLst>
          </p:nvPr>
        </p:nvGraphicFramePr>
        <p:xfrm>
          <a:off x="1304923" y="1386662"/>
          <a:ext cx="8801100" cy="4344240"/>
        </p:xfrm>
        <a:graphic>
          <a:graphicData uri="http://schemas.openxmlformats.org/drawingml/2006/table">
            <a:tbl>
              <a:tblPr/>
              <a:tblGrid>
                <a:gridCol w="2200275">
                  <a:extLst>
                    <a:ext uri="{9D8B030D-6E8A-4147-A177-3AD203B41FA5}">
                      <a16:colId xmlns:a16="http://schemas.microsoft.com/office/drawing/2014/main" val="4100829837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378992736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12825132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469262056"/>
                    </a:ext>
                  </a:extLst>
                </a:gridCol>
              </a:tblGrid>
              <a:tr h="301905">
                <a:tc>
                  <a:txBody>
                    <a:bodyPr/>
                    <a:lstStyle/>
                    <a:p>
                      <a:r>
                        <a:rPr lang="en-US" sz="1500" dirty="0"/>
                        <a:t>Step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Farmer Journey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Farmer Need / </a:t>
                      </a:r>
                      <a:r>
                        <a:rPr lang="en-US" sz="1500" dirty="0" err="1"/>
                        <a:t>Behaviour</a:t>
                      </a:r>
                      <a:endParaRPr lang="en-US" sz="1500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Onion Guard Opportunity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052614"/>
                  </a:ext>
                </a:extLst>
              </a:tr>
              <a:tr h="981192">
                <a:tc>
                  <a:txBody>
                    <a:bodyPr/>
                    <a:lstStyle/>
                    <a:p>
                      <a:r>
                        <a:rPr lang="en-US" sz="1500" b="1"/>
                        <a:t>1. Detection</a:t>
                      </a:r>
                      <a:endParaRPr lang="en-US" sz="15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Observes a change in the crop, such as wilting or spots.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Needs to identify that something may be wrong.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Push notification</a:t>
                      </a:r>
                      <a:r>
                        <a:rPr lang="en-US" sz="1500" dirty="0"/>
                        <a:t> or a simple </a:t>
                      </a:r>
                      <a:r>
                        <a:rPr lang="en-US" sz="1500" b="1" dirty="0"/>
                        <a:t>“Open Camera” shortcut</a:t>
                      </a:r>
                      <a:r>
                        <a:rPr lang="en-US" sz="1500" dirty="0"/>
                        <a:t> to begin diagnosis.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60772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r>
                        <a:rPr lang="en-US" sz="1500" b="1"/>
                        <a:t>2. Verification</a:t>
                      </a:r>
                      <a:endParaRPr lang="en-US" sz="15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Is unsure whether the problem is a disease or nutrient deficiency.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Needs a reliable diagnosis.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AI-powered image scan</a:t>
                      </a:r>
                      <a:r>
                        <a:rPr lang="en-US" sz="1500" dirty="0"/>
                        <a:t> providing a confidence score and visual match.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233248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r>
                        <a:rPr lang="en-US" sz="1500" b="1"/>
                        <a:t>3. Decision</a:t>
                      </a:r>
                      <a:endParaRPr lang="en-US" sz="15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Needs to know whether the crop is salvageable.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Needs clear guidance on what action to take.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Actionable advice</a:t>
                      </a:r>
                      <a:r>
                        <a:rPr lang="en-US" sz="1500" dirty="0"/>
                        <a:t>, e.g., “Remove plant” or “Use [X] treatment.”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457483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r>
                        <a:rPr lang="en-US" sz="1500" b="1"/>
                        <a:t>4. Connection</a:t>
                      </a:r>
                      <a:endParaRPr lang="en-US" sz="15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Wants to sell the remaining harvest.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Needs access to potential buyers or aggregators.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Marketplace button</a:t>
                      </a:r>
                      <a:r>
                        <a:rPr lang="en-US" sz="1500"/>
                        <a:t> to list produce for local aggregators.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24102"/>
                  </a:ext>
                </a:extLst>
              </a:tr>
              <a:tr h="754764">
                <a:tc>
                  <a:txBody>
                    <a:bodyPr/>
                    <a:lstStyle/>
                    <a:p>
                      <a:r>
                        <a:rPr lang="en-US" sz="1500" b="1"/>
                        <a:t>5. Trust</a:t>
                      </a:r>
                      <a:endParaRPr lang="en-US" sz="150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Relies on human guidance and expert reassurance.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Needs access to a trusted agricultural professional.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“Contact Local Extension Officer”</a:t>
                      </a:r>
                      <a:r>
                        <a:rPr lang="en-US" sz="1500" dirty="0"/>
                        <a:t> button for remote consultation.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1733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ACROSS A MINIMUM OF FIVE FARMS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3246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36024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7BE600-3828-4E2A-8A12-01AC69F0F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54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Testing </a:t>
            </a:r>
            <a:r>
              <a:rPr lang="en-US" sz="2800" b="1" dirty="0" err="1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Continued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ACROSS A MINIMUM OF FIVE FARMS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3246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36024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06456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A307B79-E73D-4BA1-8EAC-C362FA99D880}"/>
              </a:ext>
            </a:extLst>
          </p:cNvPr>
          <p:cNvGraphicFramePr>
            <a:graphicFrameLocks noGrp="1"/>
          </p:cNvGraphicFramePr>
          <p:nvPr/>
        </p:nvGraphicFramePr>
        <p:xfrm>
          <a:off x="804672" y="1874520"/>
          <a:ext cx="10515600" cy="36271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987995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66742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51014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64532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Extension Officer Journey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Current Behaviour / Need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Onion Guard Opportunity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249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1. Diagnostic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Visits a farm and spends time assessing the problem.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Needs an efficient way to conduct an initial assessment.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Uses Onion Guard to provide a </a:t>
                      </a:r>
                      <a:r>
                        <a:rPr lang="en-US" sz="1600" b="1"/>
                        <a:t>data-backed initial assessment</a:t>
                      </a:r>
                      <a:r>
                        <a:rPr lang="en-US" sz="16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660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2. Education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Explains the disease to the farmer.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Needs clear and accessible educational materials.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Shares </a:t>
                      </a:r>
                      <a:r>
                        <a:rPr lang="en-US" sz="1600" b="1"/>
                        <a:t>digital pamphlets and tips</a:t>
                      </a:r>
                      <a:r>
                        <a:rPr lang="en-US" sz="1600"/>
                        <a:t> via the app’s </a:t>
                      </a:r>
                      <a:r>
                        <a:rPr lang="en-US" sz="1600" b="1"/>
                        <a:t>Advisory</a:t>
                      </a:r>
                      <a:r>
                        <a:rPr lang="en-US" sz="1600"/>
                        <a:t> tab.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739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3. Tracking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Records the issue in a manual logbook.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Needs an efficient way to document and retrieve cases.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Automatic logging</a:t>
                      </a:r>
                      <a:r>
                        <a:rPr lang="en-US" sz="1600"/>
                        <a:t> of the issue in the platform’s database.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11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4. Scaling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Moves on to the next farm.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Needs to identify broader disease patterns across their area.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Dashboard overview</a:t>
                      </a:r>
                      <a:r>
                        <a:rPr lang="en-US" sz="1600" dirty="0"/>
                        <a:t> of disease trends within their specific district.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53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62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ACROSS A MINIMUM OF FIVE FARMS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3246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36024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06456" y="4023360"/>
            <a:ext cx="969264" cy="1737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B844E9-B2AA-4AB4-921E-EB9DD4E66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763423"/>
            <a:ext cx="10126218" cy="552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5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Revenue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133326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645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the person who uses the platform does not always have to be the person who pays for it.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 →  Onion Guard  →  Extension Officer  →  Farmer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Access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tier; premium users pay for extra scans, insights and marketplace features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297680" y="31546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Licensing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purchase access for farmers, extension officers or programmes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046720" y="31546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Farmer Access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3566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or NGO sponsors access for a defined group of farmers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Licensing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937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district-level, org-wide or custom institutional packages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4297680" y="45262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3484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Fees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4840" y="4937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transactions, premium listings, featured placements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046720" y="45262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83880" y="4617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Advertising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4937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tips, banner/video ads, rewarded advertising from agri-input firms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48640" y="5897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Technology Licensing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6309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AI adapted to tomato, pepper, maize and cassava</a:t>
            </a:r>
            <a:endParaRPr lang="en-US" sz="9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A57BDB-4894-486B-9B23-78B3D9219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54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ln w="15875">
            <a:solidFill>
              <a:srgbClr val="3D78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3931920"/>
            <a:ext cx="4206240" cy="4206240"/>
          </a:xfrm>
          <a:prstGeom prst="ellipse">
            <a:avLst/>
          </a:prstGeom>
          <a:ln w="12700">
            <a:solidFill>
              <a:srgbClr val="3D78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4572000"/>
            <a:ext cx="2926080" cy="2926080"/>
          </a:xfrm>
          <a:prstGeom prst="ellipse">
            <a:avLst/>
          </a:prstGeom>
          <a:ln w="15875">
            <a:solidFill>
              <a:srgbClr val="E8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BUDGET &amp; MEASUREMENT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Deliver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PROGRAMME NEEDS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Required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2697480" cy="82296"/>
          </a:xfrm>
          <a:prstGeom prst="roundRect">
            <a:avLst/>
          </a:prstGeom>
          <a:solidFill>
            <a:srgbClr val="1F4D36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874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4944" y="2514600"/>
            <a:ext cx="2404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mobile development team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lead &amp; project coordinator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scientist / crop specialist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coordinator &amp; research assistants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strategist, copywriter, videographer, designer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/ commercialisation 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691640"/>
            <a:ext cx="2697480" cy="82296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3529584" y="1874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RESOURCES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29584" y="2514600"/>
            <a:ext cx="2404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laptops &amp; testing devices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&amp; AI/ML infrastructure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database infrastructure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analytics &amp; testing environments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tools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91640"/>
            <a:ext cx="2697480" cy="82296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874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RESOURCES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64224" y="2514600"/>
            <a:ext cx="2404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 minimum of five farms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experts &amp; extension officers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reference materials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Field-testing protocols &amp; data tools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to field sites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97480" cy="4434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691640"/>
            <a:ext cx="2697480" cy="82296"/>
          </a:xfrm>
          <a:prstGeom prst="roundRect">
            <a:avLst/>
          </a:prstGeom>
          <a:solidFill>
            <a:srgbClr val="8F45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187452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F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&amp; COMMERCIALISATION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98864" y="2514600"/>
            <a:ext cx="2404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audio and lighting equipment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and graphic design software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Press, launch and pitch materials</a:t>
            </a:r>
            <a:endParaRPr lang="en-US" sz="9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9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and MOU development support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SIX-MONTH BUDGET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Product-First Investment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planning estimate, to be refined following technical audit, AI model assessment and development quotation.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6766560" cy="365760"/>
          </a:xfrm>
          <a:prstGeom prst="roundRect">
            <a:avLst>
              <a:gd name="adj" fmla="val 20000"/>
            </a:avLst>
          </a:prstGeom>
          <a:solidFill>
            <a:srgbClr val="13332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CATEGORY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9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&amp; Technical Investment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100,000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72384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723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Field Testing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0723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10,000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9EFE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758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Visibility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36758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5,000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79392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793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Partnerships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2793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5,000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882896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E9EFE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828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0" y="488289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11,500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E8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TOTAL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5532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131,000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3566160" cy="73152"/>
          </a:xfrm>
          <a:prstGeom prst="roundRect">
            <a:avLst/>
          </a:prstGeom>
          <a:solidFill>
            <a:srgbClr val="1F4D3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745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Reach, impressions, video views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mentions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traffic; event attendance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691640"/>
            <a:ext cx="3566160" cy="73152"/>
          </a:xfrm>
          <a:prstGeom prst="roundRect">
            <a:avLst/>
          </a:prstGeom>
          <a:solidFill>
            <a:srgbClr val="3D7859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8745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D7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62272" y="228600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core content pieces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engagement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stakeholder mentions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691640"/>
            <a:ext cx="3566160" cy="73152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18745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11312" y="228600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refinement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completion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iterations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23360"/>
            <a:ext cx="3566160" cy="73152"/>
          </a:xfrm>
          <a:prstGeom prst="roundRect">
            <a:avLst/>
          </a:prstGeom>
          <a:solidFill>
            <a:srgbClr val="C1622D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062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461772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onboarded &amp; active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users; retention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4023360"/>
            <a:ext cx="3566160" cy="73152"/>
          </a:xfrm>
          <a:prstGeom prst="roundRect">
            <a:avLst/>
          </a:prstGeom>
          <a:solidFill>
            <a:srgbClr val="8F4520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42062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F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62272" y="461772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&amp; meetings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opportunities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MOUs by Month 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4023360"/>
            <a:ext cx="3566160" cy="73152"/>
          </a:xfrm>
          <a:prstGeom prst="roundRect">
            <a:avLst/>
          </a:prstGeom>
          <a:solidFill>
            <a:srgbClr val="1D3557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420624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11312" y="461772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Paying-customer prospects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/ sponsorship leads</a:t>
            </a:r>
            <a:endParaRPr lang="en-US" sz="10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■"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opportunities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E9EFE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may not perform accurately enough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1031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testing, fine-tuning and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44368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94436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be interested but fail to adopt the product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94436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testing, feedback-driven iteration, simplified onboarding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E9EFE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85616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378561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partners may express interest without formalising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78561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follow-up, clear propositions, defined pilots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26864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626864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62686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revenue model may not be viable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62686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multiple commercialisation pathways rather than 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468112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E9EFE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46811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60320" y="546811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may require more technical development than anticipated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54681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features; allocate majority of budget to technical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FROM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A2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48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856232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801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Product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improved and better-tested application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1856232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18013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completed across a minimum of five farms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44952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209544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154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Awareness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34440" y="35021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aware of Onion Guard and the problem it addresses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044952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28232" y="3209544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3154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Visibility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49440" y="350215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documented six-month innovation journey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98264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562856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507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Stakeholder Interest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34440" y="485546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across agricultural, tech, business and institutional audiences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398264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28232" y="4562856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428232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45079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49440" y="485546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of potential institutional and strategic partners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751576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3232" y="5916168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5916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34440" y="58613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Learning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234440" y="620877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who wants the product, what they value, and who may pay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751576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62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28232" y="5916168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45" name="Text 43"/>
          <p:cNvSpPr/>
          <p:nvPr/>
        </p:nvSpPr>
        <p:spPr>
          <a:xfrm>
            <a:off x="6428232" y="5916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0" y="58613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Path to Scale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49440" y="620877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2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post-pilot roadmap for growth, product, partnerships and funding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ONION GUARD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17926" y="160401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91000" y="155067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GUARD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42291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BF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 platform for agricultural intelligence, disease detection and value-chain support across multiple crops.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COULD?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90A69-9AFA-4017-A4C8-7B483EBC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430" y="871726"/>
            <a:ext cx="5611370" cy="56113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517142" y="216789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What if we could start work this Monday?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947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3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WE COULD?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6355080"/>
            <a:ext cx="256032" cy="256032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3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GUARD  |  UG NKABOM HONOURS PROGRAMME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21290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5618</TotalTime>
  <Words>3645</Words>
  <Application>Microsoft Office PowerPoint</Application>
  <PresentationFormat>Widescreen</PresentationFormat>
  <Paragraphs>808</Paragraphs>
  <Slides>48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Onion Guard - Strategic Proposal</dc:title>
  <dc:subject>PptxGenJS Presentation</dc:subject>
  <dc:creator>Innova Strategy</dc:creator>
  <cp:lastModifiedBy>Benedicta Afi Agbodzi</cp:lastModifiedBy>
  <cp:revision>37</cp:revision>
  <dcterms:created xsi:type="dcterms:W3CDTF">2026-07-19T18:28:41Z</dcterms:created>
  <dcterms:modified xsi:type="dcterms:W3CDTF">2026-07-27T22:58:53Z</dcterms:modified>
</cp:coreProperties>
</file>