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8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1A3C34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A3C34"/>
                </a:solidFill>
                <a:latin typeface="Arial" panose="020B0604020202020204"/>
              </a:rPr>
              <a:t>Cost Comparison: Extension Officers vs OnionGuard</a:t>
            </a:r>
            <a:endParaRPr sz="1200" b="0" i="0" u="none" strike="noStrike">
              <a:solidFill>
                <a:srgbClr val="1A3C34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(USD)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5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Extension Officers
(1,000 farmers)</c:v>
                </c:pt>
                <c:pt idx="1">
                  <c:v>OnionGuard App
(1,000 farmers)</c:v>
                </c:pt>
                <c:pt idx="2">
                  <c:v>Extension Officers
(10,000 farmers)</c:v>
                </c:pt>
                <c:pt idx="3">
                  <c:v>OnionGuard App
(10,000 farmers)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12000</c:v>
                </c:pt>
                <c:pt idx="1">
                  <c:v>650</c:v>
                </c:pt>
                <c:pt idx="2">
                  <c:v>120000</c:v>
                </c:pt>
                <c:pt idx="3">
                  <c:v>2500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1c762855-a7f8-4d76-a414-62f6da04e14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3" name="Shape 1"/>
          <p:cNvSpPr/>
          <p:nvPr/>
        </p:nvSpPr>
        <p:spPr>
          <a:xfrm>
            <a:off x="6858000" y="-1371600"/>
            <a:ext cx="5943600" cy="5943600"/>
          </a:xfrm>
          <a:prstGeom prst="ellipse">
            <a:avLst/>
          </a:prstGeom>
          <a:solidFill>
            <a:srgbClr val="2E7D52">
              <a:alpha val="4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772400" y="3200400"/>
            <a:ext cx="3657600" cy="3657600"/>
          </a:xfrm>
          <a:prstGeom prst="ellipse">
            <a:avLst/>
          </a:prstGeom>
          <a:solidFill>
            <a:srgbClr val="4CAF7D">
              <a:alpha val="2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457200" y="914400"/>
            <a:ext cx="2926080" cy="3474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6" name="Text 4"/>
          <p:cNvSpPr/>
          <p:nvPr/>
        </p:nvSpPr>
        <p:spPr>
          <a:xfrm>
            <a:off x="457200" y="91440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RESEARCH PROPOSAL  •  2025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77724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OnionGuard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Onion Disease Detection</a:t>
            </a:r>
            <a:endParaRPr lang="en-US" sz="2600" dirty="0"/>
          </a:p>
          <a:p>
            <a:pPr marL="0" indent="0">
              <a:buNone/>
            </a:pPr>
            <a:r>
              <a:rPr lang="en-US" sz="2600" i="1" dirty="0">
                <a:solidFill>
                  <a:srgbClr val="F5A62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Multilingual Farmer Support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D5B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Machine Learning Mobile App Solution for Smallholder Onion Farmers in West Africa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5943600" cy="1097280"/>
          </a:xfrm>
          <a:prstGeom prst="rect">
            <a:avLst/>
          </a:prstGeom>
          <a:solidFill>
            <a:srgbClr val="163026"/>
          </a:solidFill>
        </p:spPr>
        <p:txBody>
          <a:bodyPr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64008" cy="109728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2" name="Text 10"/>
          <p:cNvSpPr/>
          <p:nvPr/>
        </p:nvSpPr>
        <p:spPr>
          <a:xfrm>
            <a:off x="594360" y="46177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892040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Nkabom Honours Team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109728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4300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5A623"/>
                </a:solidFill>
              </a:rPr>
              <a:t>Onion Crop Losses Are Devastating Farmers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657600" cy="22860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3657600" cy="109728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7" name="Text 5"/>
          <p:cNvSpPr/>
          <p:nvPr/>
        </p:nvSpPr>
        <p:spPr>
          <a:xfrm>
            <a:off x="320040" y="132588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0392B"/>
                </a:solidFill>
              </a:rPr>
              <a:t>50%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25"/>
                </a:solidFill>
              </a:rPr>
              <a:t>Crop Losses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3291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6A"/>
                </a:solidFill>
              </a:rPr>
              <a:t>Up to half of onion yields lost to disease in sub-Saharan Africa [1]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143000"/>
            <a:ext cx="3657600" cy="22860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143000"/>
            <a:ext cx="3657600" cy="109728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2" name="Text 10"/>
          <p:cNvSpPr/>
          <p:nvPr/>
        </p:nvSpPr>
        <p:spPr>
          <a:xfrm>
            <a:off x="4251960" y="132588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67E22"/>
                </a:solidFill>
              </a:rPr>
              <a:t>800M+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251960" y="2194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25"/>
                </a:solidFill>
              </a:rPr>
              <a:t>USD Annual Loss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34840" y="2514600"/>
            <a:ext cx="3291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6A"/>
                </a:solidFill>
              </a:rPr>
              <a:t>Economic cost of onion diseases to African smallholders annually [2]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83880" y="1143000"/>
            <a:ext cx="3657600" cy="2286000"/>
          </a:xfrm>
          <a:prstGeom prst="rect">
            <a:avLst/>
          </a:prstGeom>
          <a:solidFill>
            <a:srgbClr val="FFFFFF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143000"/>
            <a:ext cx="3657600" cy="109728"/>
          </a:xfrm>
          <a:prstGeom prst="rect">
            <a:avLst/>
          </a:prstGeom>
          <a:solidFill>
            <a:srgbClr val="2E7D52"/>
          </a:solidFill>
        </p:spPr>
      </p:sp>
      <p:sp>
        <p:nvSpPr>
          <p:cNvPr id="17" name="Text 15"/>
          <p:cNvSpPr/>
          <p:nvPr/>
        </p:nvSpPr>
        <p:spPr>
          <a:xfrm>
            <a:off x="8183880" y="132588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E7D52"/>
                </a:solidFill>
              </a:rPr>
              <a:t>1 : 1,500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183880" y="2194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25"/>
                </a:solidFill>
              </a:rPr>
              <a:t>Extension Ratio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2514600"/>
            <a:ext cx="32918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6A"/>
                </a:solidFill>
              </a:rPr>
              <a:t>1 extension officer per 1,500 farmers in Ghana — 3x worse than FAO’s standard of 1:500. In 3 months, one officer must visit 4,500 farmers [3]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11521440" cy="26517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37490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</a:rPr>
              <a:t>Why Farmers Cannot Act Fast Enough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4114800"/>
            <a:ext cx="1115568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25"/>
                </a:solidFill>
              </a:rPr>
              <a:t>🌍  Geographic isolation — many farmers live hours from the nearest agronomist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25"/>
                </a:solidFill>
              </a:rPr>
              <a:t>🗣️  Language barriers — most AI tools operate only in English, not local languages like Twi, Dagbani, or Ewe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25"/>
                </a:solidFill>
              </a:rPr>
              <a:t>⏱️  Delayed diagnosis — by the time a specialist arrives, disease has already spread across the field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25"/>
                </a:solidFill>
              </a:rPr>
              <a:t>💸  Cost — hiring extension officers is unaffordable for subsistence farmers earning &lt; $2/day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6537960"/>
            <a:ext cx="11521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7A6A"/>
                </a:solidFill>
              </a:rPr>
              <a:t>Sources: [1] Autio et al., 2021  [2] FAO, 2023  [3] Dr. Anambam, B&amp;FT, 2023; MOFA Ghana / Eric Opoku, Minister of Food &amp; Agriculture, 2025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TARGET DISEASES &amp; PESTS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5214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5A623"/>
                </a:solidFill>
              </a:rPr>
              <a:t>6 Classes from TOM2024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749040" cy="2423160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91440" cy="242316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7" name="Text 5"/>
          <p:cNvSpPr/>
          <p:nvPr/>
        </p:nvSpPr>
        <p:spPr>
          <a:xfrm>
            <a:off x="457200" y="11704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5"/>
                </a:solidFill>
              </a:rPr>
              <a:t>Fusarium Basal Rot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1188720" cy="201168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9" name="Text 7"/>
          <p:cNvSpPr/>
          <p:nvPr/>
        </p:nvSpPr>
        <p:spPr>
          <a:xfrm>
            <a:off x="457200" y="148132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738 labeled images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737360" y="148132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⚠ #1 cause of post-harvest loss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342900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Caused by Fusarium oxysporum f.sp. cepae. Studies show up to 60% bulb loss in warm, wet soils. Leads to sulfurous rot and complete unmarketability. Prevalent across onion-growing regions of Ghana and West Africa [4].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51960" y="1097280"/>
            <a:ext cx="3749040" cy="2423160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097280"/>
            <a:ext cx="91440" cy="242316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4" name="Text 12"/>
          <p:cNvSpPr/>
          <p:nvPr/>
        </p:nvSpPr>
        <p:spPr>
          <a:xfrm>
            <a:off x="4434840" y="11704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5"/>
                </a:solidFill>
              </a:rPr>
              <a:t>Alternaria Leaf Blight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1481328"/>
            <a:ext cx="1188720" cy="201168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6" name="Text 14"/>
          <p:cNvSpPr/>
          <p:nvPr/>
        </p:nvSpPr>
        <p:spPr>
          <a:xfrm>
            <a:off x="4434840" y="148132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515 labeled images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15000" y="148132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</a:rPr>
              <a:t>⚠ 30–50% yield reduction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34840" y="1755648"/>
            <a:ext cx="342900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Alternaria porri attacks leaves under humid conditions. Causes purple blotch lesions and premature defoliation. Heavily documented across West Africa [5].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83880" y="1097280"/>
            <a:ext cx="3749040" cy="2423160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83880" y="1097280"/>
            <a:ext cx="91440" cy="2423160"/>
          </a:xfrm>
          <a:prstGeom prst="rect">
            <a:avLst/>
          </a:prstGeom>
          <a:solidFill>
            <a:srgbClr val="2E7D52"/>
          </a:solidFill>
        </p:spPr>
      </p:sp>
      <p:sp>
        <p:nvSpPr>
          <p:cNvPr id="21" name="Text 19"/>
          <p:cNvSpPr/>
          <p:nvPr/>
        </p:nvSpPr>
        <p:spPr>
          <a:xfrm>
            <a:off x="8366760" y="117043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5"/>
                </a:solidFill>
              </a:rPr>
              <a:t>Virosis (Onion Yellow Dwarf)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66760" y="1481328"/>
            <a:ext cx="1188720" cy="201168"/>
          </a:xfrm>
          <a:prstGeom prst="rect">
            <a:avLst/>
          </a:prstGeom>
          <a:solidFill>
            <a:srgbClr val="2E7D52"/>
          </a:solidFill>
        </p:spPr>
      </p:sp>
      <p:sp>
        <p:nvSpPr>
          <p:cNvPr id="23" name="Text 21"/>
          <p:cNvSpPr/>
          <p:nvPr/>
        </p:nvSpPr>
        <p:spPr>
          <a:xfrm>
            <a:off x="8366760" y="148132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203 labeled images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646920" y="148132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52"/>
                </a:solidFill>
              </a:rPr>
              <a:t>⚠ Affects 40% of fields surveyed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66760" y="1755648"/>
            <a:ext cx="342900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Aphid-transmitted virus causing stunted growth and yellow streaking. No cure once infected — early detection is the only intervention [6].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703320"/>
            <a:ext cx="3749040" cy="2423160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703320"/>
            <a:ext cx="91440" cy="24231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8" name="Text 26"/>
          <p:cNvSpPr/>
          <p:nvPr/>
        </p:nvSpPr>
        <p:spPr>
          <a:xfrm>
            <a:off x="457200" y="377647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5"/>
                </a:solidFill>
              </a:rPr>
              <a:t>Caterpillar Infestation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087368"/>
            <a:ext cx="1188720" cy="201168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0" name="Text 28"/>
          <p:cNvSpPr/>
          <p:nvPr/>
        </p:nvSpPr>
        <p:spPr>
          <a:xfrm>
            <a:off x="457200" y="408736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879 labeled images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737360" y="408736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⚠ Highest pest image count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361688"/>
            <a:ext cx="342900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Spodoptera species defoliate onion crops rapidly. A single generation of fall armyworm can destroy 80% of a field in under a week if undetected [7].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51960" y="3703320"/>
            <a:ext cx="3749040" cy="2423160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51960" y="3703320"/>
            <a:ext cx="91440" cy="242316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5" name="Text 33"/>
          <p:cNvSpPr/>
          <p:nvPr/>
        </p:nvSpPr>
        <p:spPr>
          <a:xfrm>
            <a:off x="4434840" y="377647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5"/>
                </a:solidFill>
              </a:rPr>
              <a:t>Bulb Rot (Botrytis / Neck Rot)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434840" y="4087368"/>
            <a:ext cx="1188720" cy="201168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7" name="Text 35"/>
          <p:cNvSpPr/>
          <p:nvPr/>
        </p:nvSpPr>
        <p:spPr>
          <a:xfrm>
            <a:off x="4434840" y="408736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30 labeled images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00" y="408736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5F"/>
                </a:solidFill>
              </a:rPr>
              <a:t>⚠ Up to 100% storage loss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34840" y="4361688"/>
            <a:ext cx="342900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Post-harvest disease triggered by Botrytis allii. Particularly dangerous as it spreads silently in storage. Farmers often lose an entire season's harvest [8].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83880" y="3703320"/>
            <a:ext cx="3749040" cy="2423160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183880" y="3703320"/>
            <a:ext cx="91440" cy="2423160"/>
          </a:xfrm>
          <a:prstGeom prst="rect">
            <a:avLst/>
          </a:prstGeom>
          <a:solidFill>
            <a:srgbClr val="3D9970"/>
          </a:solidFill>
        </p:spPr>
      </p:sp>
      <p:sp>
        <p:nvSpPr>
          <p:cNvPr id="42" name="Text 40"/>
          <p:cNvSpPr/>
          <p:nvPr/>
        </p:nvSpPr>
        <p:spPr>
          <a:xfrm>
            <a:off x="8366760" y="377647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5"/>
                </a:solidFill>
              </a:rPr>
              <a:t>Healthy Leaf (Baseline)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366760" y="4087368"/>
            <a:ext cx="1188720" cy="201168"/>
          </a:xfrm>
          <a:prstGeom prst="rect">
            <a:avLst/>
          </a:prstGeom>
          <a:solidFill>
            <a:srgbClr val="3D9970"/>
          </a:solidFill>
        </p:spPr>
      </p:sp>
      <p:sp>
        <p:nvSpPr>
          <p:cNvPr id="44" name="Text 42"/>
          <p:cNvSpPr/>
          <p:nvPr/>
        </p:nvSpPr>
        <p:spPr>
          <a:xfrm>
            <a:off x="8366760" y="408736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679 labeled images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646920" y="408736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9970"/>
                </a:solidFill>
              </a:rPr>
              <a:t>⚠ Critical reference class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66760" y="4361688"/>
            <a:ext cx="3429000" cy="1600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Healthy crop images are essential for model calibration. False positives (diagnosing healthy crops as sick) undermine farmer trust — this class prevents that [9].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7A6A"/>
                </a:solidFill>
              </a:rPr>
              <a:t>Sources: [4] Cramer, 2000  [5] Schwartz &amp; Mohan, 2008  [6] Barg &amp; Doong, 1994  [7] Nagoshi et al., 2019  [8] Maude, 1990  [9] TOM2024 Dataset, Appiah et al., 2025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06240" cy="6858000"/>
          </a:xfrm>
          <a:prstGeom prst="rect">
            <a:avLst/>
          </a:prstGeom>
          <a:solidFill>
            <a:srgbClr val="163026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63026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91440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SOLUTION: OnionGuard Mobile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7406640" cy="868680"/>
          </a:xfrm>
          <a:prstGeom prst="rect">
            <a:avLst/>
          </a:prstGeom>
          <a:solidFill>
            <a:srgbClr val="1F4A3B"/>
          </a:solidFill>
        </p:spPr>
      </p:sp>
      <p:sp>
        <p:nvSpPr>
          <p:cNvPr id="6" name="Shape 4"/>
          <p:cNvSpPr/>
          <p:nvPr/>
        </p:nvSpPr>
        <p:spPr>
          <a:xfrm>
            <a:off x="274320" y="1097280"/>
            <a:ext cx="73152" cy="868680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7" name="Text 5"/>
          <p:cNvSpPr/>
          <p:nvPr/>
        </p:nvSpPr>
        <p:spPr>
          <a:xfrm>
            <a:off x="411480" y="1170432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15214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Snap &amp; Diagnose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444752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5BC"/>
                </a:solidFill>
              </a:rPr>
              <a:t>Farmer photographs the onion leaf or bulb. ML model classifies disease in under 3 seconds.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7406640" cy="868680"/>
          </a:xfrm>
          <a:prstGeom prst="rect">
            <a:avLst/>
          </a:prstGeom>
          <a:solidFill>
            <a:srgbClr val="1F4A3B"/>
          </a:solidFill>
        </p:spPr>
      </p:sp>
      <p:sp>
        <p:nvSpPr>
          <p:cNvPr id="11" name="Shape 9"/>
          <p:cNvSpPr/>
          <p:nvPr/>
        </p:nvSpPr>
        <p:spPr>
          <a:xfrm>
            <a:off x="274320" y="2148840"/>
            <a:ext cx="73152" cy="868680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12" name="Text 10"/>
          <p:cNvSpPr/>
          <p:nvPr/>
        </p:nvSpPr>
        <p:spPr>
          <a:xfrm>
            <a:off x="411480" y="2221992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220370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Multilingual 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496312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5BC"/>
                </a:solidFill>
              </a:rPr>
              <a:t>English, Twi, Dagbani, Ewe, Hausa — in voice &amp; text. Zero literacy barrier.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7406640" cy="868680"/>
          </a:xfrm>
          <a:prstGeom prst="rect">
            <a:avLst/>
          </a:prstGeom>
          <a:solidFill>
            <a:srgbClr val="1F4A3B"/>
          </a:solidFill>
        </p:spPr>
      </p:sp>
      <p:sp>
        <p:nvSpPr>
          <p:cNvPr id="16" name="Shape 14"/>
          <p:cNvSpPr/>
          <p:nvPr/>
        </p:nvSpPr>
        <p:spPr>
          <a:xfrm>
            <a:off x="274320" y="3200400"/>
            <a:ext cx="73152" cy="868680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17" name="Text 15"/>
          <p:cNvSpPr/>
          <p:nvPr/>
        </p:nvSpPr>
        <p:spPr>
          <a:xfrm>
            <a:off x="411480" y="3273552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325526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Treatment Guidance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547872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5BC"/>
                </a:solidFill>
              </a:rPr>
              <a:t>Instant, actionable treatment plan with locally available products and dosages.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251960"/>
            <a:ext cx="7406640" cy="868680"/>
          </a:xfrm>
          <a:prstGeom prst="rect">
            <a:avLst/>
          </a:prstGeom>
          <a:solidFill>
            <a:srgbClr val="1F4A3B"/>
          </a:solidFill>
        </p:spPr>
      </p:sp>
      <p:sp>
        <p:nvSpPr>
          <p:cNvPr id="21" name="Shape 19"/>
          <p:cNvSpPr/>
          <p:nvPr/>
        </p:nvSpPr>
        <p:spPr>
          <a:xfrm>
            <a:off x="274320" y="4251960"/>
            <a:ext cx="73152" cy="868680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22" name="Text 20"/>
          <p:cNvSpPr/>
          <p:nvPr/>
        </p:nvSpPr>
        <p:spPr>
          <a:xfrm>
            <a:off x="411480" y="4325112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430682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Offline-First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599432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5BC"/>
                </a:solidFill>
              </a:rPr>
              <a:t>Works without internet. Syncs data when connectivity is available.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5303520"/>
            <a:ext cx="7406640" cy="868680"/>
          </a:xfrm>
          <a:prstGeom prst="rect">
            <a:avLst/>
          </a:prstGeom>
          <a:solidFill>
            <a:srgbClr val="1F4A3B"/>
          </a:solidFill>
        </p:spPr>
      </p:sp>
      <p:sp>
        <p:nvSpPr>
          <p:cNvPr id="26" name="Shape 24"/>
          <p:cNvSpPr/>
          <p:nvPr/>
        </p:nvSpPr>
        <p:spPr>
          <a:xfrm>
            <a:off x="274320" y="5303520"/>
            <a:ext cx="73152" cy="868680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27" name="Text 25"/>
          <p:cNvSpPr/>
          <p:nvPr/>
        </p:nvSpPr>
        <p:spPr>
          <a:xfrm>
            <a:off x="411480" y="5376672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43000" y="5358384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Farmer Analytics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5650992"/>
            <a:ext cx="6309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5BC"/>
                </a:solidFill>
              </a:rPr>
              <a:t>Track field health over time. Generate seasonal reports for cooperatives.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38160" y="109728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Model Architecture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38160" y="1554480"/>
            <a:ext cx="3749040" cy="411480"/>
          </a:xfrm>
          <a:prstGeom prst="rect">
            <a:avLst/>
          </a:prstGeom>
          <a:solidFill>
            <a:srgbClr val="1F4A3B"/>
          </a:solidFill>
        </p:spPr>
      </p:sp>
      <p:sp>
        <p:nvSpPr>
          <p:cNvPr id="32" name="Text 30"/>
          <p:cNvSpPr/>
          <p:nvPr/>
        </p:nvSpPr>
        <p:spPr>
          <a:xfrm>
            <a:off x="8229600" y="1609344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C"/>
                </a:solidFill>
              </a:rPr>
              <a:t>Framework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75520" y="160934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TensorFlow Lite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2029968"/>
            <a:ext cx="3749040" cy="411480"/>
          </a:xfrm>
          <a:prstGeom prst="rect">
            <a:avLst/>
          </a:prstGeom>
          <a:solidFill>
            <a:srgbClr val="1F4A3B"/>
          </a:solidFill>
        </p:spPr>
      </p:sp>
      <p:sp>
        <p:nvSpPr>
          <p:cNvPr id="35" name="Text 33"/>
          <p:cNvSpPr/>
          <p:nvPr/>
        </p:nvSpPr>
        <p:spPr>
          <a:xfrm>
            <a:off x="8229600" y="2084832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C"/>
                </a:solidFill>
              </a:rPr>
              <a:t>Base Model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875520" y="2084832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MobileNetV3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138160" y="2505456"/>
            <a:ext cx="3749040" cy="411480"/>
          </a:xfrm>
          <a:prstGeom prst="rect">
            <a:avLst/>
          </a:prstGeom>
          <a:solidFill>
            <a:srgbClr val="1F4A3B"/>
          </a:solidFill>
        </p:spPr>
      </p:sp>
      <p:sp>
        <p:nvSpPr>
          <p:cNvPr id="38" name="Text 36"/>
          <p:cNvSpPr/>
          <p:nvPr/>
        </p:nvSpPr>
        <p:spPr>
          <a:xfrm>
            <a:off x="8229600" y="2560320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C"/>
                </a:solidFill>
              </a:rPr>
              <a:t>Training Data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875520" y="2560320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TOM2024 Category B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38160" y="2980944"/>
            <a:ext cx="3749040" cy="411480"/>
          </a:xfrm>
          <a:prstGeom prst="rect">
            <a:avLst/>
          </a:prstGeom>
          <a:solidFill>
            <a:srgbClr val="1F4A3B"/>
          </a:solidFill>
        </p:spPr>
      </p:sp>
      <p:sp>
        <p:nvSpPr>
          <p:cNvPr id="41" name="Text 39"/>
          <p:cNvSpPr/>
          <p:nvPr/>
        </p:nvSpPr>
        <p:spPr>
          <a:xfrm>
            <a:off x="8229600" y="3035808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C"/>
                </a:solidFill>
              </a:rPr>
              <a:t>Classes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875520" y="303580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 Onion Classes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38160" y="3456432"/>
            <a:ext cx="3749040" cy="411480"/>
          </a:xfrm>
          <a:prstGeom prst="rect">
            <a:avLst/>
          </a:prstGeom>
          <a:solidFill>
            <a:srgbClr val="1F4A3B"/>
          </a:solidFill>
        </p:spPr>
      </p:sp>
      <p:sp>
        <p:nvSpPr>
          <p:cNvPr id="44" name="Text 42"/>
          <p:cNvSpPr/>
          <p:nvPr/>
        </p:nvSpPr>
        <p:spPr>
          <a:xfrm>
            <a:off x="8229600" y="3511296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C"/>
                </a:solidFill>
              </a:rPr>
              <a:t>Accuracy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875520" y="3511296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&gt;96% (validated)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38160" y="3931920"/>
            <a:ext cx="3749040" cy="411480"/>
          </a:xfrm>
          <a:prstGeom prst="rect">
            <a:avLst/>
          </a:prstGeom>
          <a:solidFill>
            <a:srgbClr val="1F4A3B"/>
          </a:solidFill>
        </p:spPr>
      </p:sp>
      <p:sp>
        <p:nvSpPr>
          <p:cNvPr id="47" name="Text 45"/>
          <p:cNvSpPr/>
          <p:nvPr/>
        </p:nvSpPr>
        <p:spPr>
          <a:xfrm>
            <a:off x="8229600" y="3986784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C"/>
                </a:solidFill>
              </a:rPr>
              <a:t>Model Size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875520" y="398678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&lt; 15 MB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38160" y="4407408"/>
            <a:ext cx="3749040" cy="411480"/>
          </a:xfrm>
          <a:prstGeom prst="rect">
            <a:avLst/>
          </a:prstGeom>
          <a:solidFill>
            <a:srgbClr val="1F4A3B"/>
          </a:solidFill>
        </p:spPr>
      </p:sp>
      <p:sp>
        <p:nvSpPr>
          <p:cNvPr id="50" name="Text 48"/>
          <p:cNvSpPr/>
          <p:nvPr/>
        </p:nvSpPr>
        <p:spPr>
          <a:xfrm>
            <a:off x="8229600" y="4462272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5BC"/>
                </a:solidFill>
              </a:rPr>
              <a:t>Platform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9875520" y="4462272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Android + iOS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2E7D52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MULTILINGUAL SUPPORT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5214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F5E1"/>
                </a:solidFill>
              </a:rPr>
              <a:t>Breaking the Language Barrier in AgriTech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1920240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6" name="Text 4"/>
          <p:cNvSpPr/>
          <p:nvPr/>
        </p:nvSpPr>
        <p:spPr>
          <a:xfrm>
            <a:off x="365760" y="14630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Twi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44%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6A"/>
                </a:solidFill>
              </a:rPr>
              <a:t>Ashanti / Brong-Ahafo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70048" y="1097280"/>
            <a:ext cx="1920240" cy="192024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2670048" y="14630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English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70048" y="18288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Gov &amp; Education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70048" y="30632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6A"/>
                </a:solidFill>
              </a:rPr>
              <a:t>Official language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74336" y="1097280"/>
            <a:ext cx="1920240" cy="192024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14" name="Text 12"/>
          <p:cNvSpPr/>
          <p:nvPr/>
        </p:nvSpPr>
        <p:spPr>
          <a:xfrm>
            <a:off x="4974336" y="14630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Dagbani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74336" y="18288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16%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74336" y="30632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6A"/>
                </a:solidFill>
              </a:rPr>
              <a:t>Northern Ghana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78624" y="1097280"/>
            <a:ext cx="1920240" cy="1920240"/>
          </a:xfrm>
          <a:prstGeom prst="ellipse">
            <a:avLst/>
          </a:prstGeom>
          <a:solidFill>
            <a:srgbClr val="D4881A"/>
          </a:solidFill>
        </p:spPr>
      </p:sp>
      <p:sp>
        <p:nvSpPr>
          <p:cNvPr id="18" name="Text 16"/>
          <p:cNvSpPr/>
          <p:nvPr/>
        </p:nvSpPr>
        <p:spPr>
          <a:xfrm>
            <a:off x="7278624" y="14630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Ewe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78624" y="18288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13%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78624" y="30632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6A"/>
                </a:solidFill>
              </a:rPr>
              <a:t>Volta / Oti Region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582912" y="1097280"/>
            <a:ext cx="1920240" cy="1920240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22" name="Text 20"/>
          <p:cNvSpPr/>
          <p:nvPr/>
        </p:nvSpPr>
        <p:spPr>
          <a:xfrm>
            <a:off x="9582912" y="14630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Hausa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82912" y="18288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82912" y="30632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6A"/>
                </a:solidFill>
              </a:rPr>
              <a:t>Zongo Communities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474720"/>
            <a:ext cx="11521440" cy="1371600"/>
          </a:xfrm>
          <a:prstGeom prst="rect">
            <a:avLst/>
          </a:prstGeom>
          <a:solidFill>
            <a:srgbClr val="2E7D52"/>
          </a:solidFill>
        </p:spPr>
      </p:sp>
      <p:sp>
        <p:nvSpPr>
          <p:cNvPr id="26" name="Text 24"/>
          <p:cNvSpPr/>
          <p:nvPr/>
        </p:nvSpPr>
        <p:spPr>
          <a:xfrm>
            <a:off x="548640" y="3566160"/>
            <a:ext cx="110642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"A farmer in rural Ghana who speaks only Twi or Dagbani cannot use an English-only app. Language exclusion is the single biggest barrier to digital agriculture adoption in West Africa."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" y="4983480"/>
            <a:ext cx="5577840" cy="74980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983480"/>
            <a:ext cx="73152" cy="749808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29" name="Text 27"/>
          <p:cNvSpPr/>
          <p:nvPr/>
        </p:nvSpPr>
        <p:spPr>
          <a:xfrm>
            <a:off x="502920" y="5029200"/>
            <a:ext cx="5212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34"/>
                </a:solidFill>
              </a:rPr>
              <a:t>Voice Output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530352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Diagnosis read aloud in farmer's native language — even illiterate users get full benefit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4983480"/>
            <a:ext cx="5577840" cy="74980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17920" y="4983480"/>
            <a:ext cx="73152" cy="749808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33" name="Text 31"/>
          <p:cNvSpPr/>
          <p:nvPr/>
        </p:nvSpPr>
        <p:spPr>
          <a:xfrm>
            <a:off x="6400800" y="5029200"/>
            <a:ext cx="5212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34"/>
                </a:solidFill>
              </a:rPr>
              <a:t>Visual Icons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0" y="530352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Colour-coded disease severity icons work across all language contexts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5852160"/>
            <a:ext cx="5577840" cy="74980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5852160"/>
            <a:ext cx="73152" cy="749808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37" name="Text 35"/>
          <p:cNvSpPr/>
          <p:nvPr/>
        </p:nvSpPr>
        <p:spPr>
          <a:xfrm>
            <a:off x="502920" y="5897880"/>
            <a:ext cx="5212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34"/>
                </a:solidFill>
              </a:rPr>
              <a:t>SMS Fallback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617220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Results sent as SMS in local language for feature phone users with no data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5852160"/>
            <a:ext cx="5577840" cy="749808"/>
          </a:xfrm>
          <a:prstGeom prst="rect">
            <a:avLst/>
          </a:prstGeom>
          <a:solidFill>
            <a:srgbClr val="FFFFFF"/>
          </a:solidFill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5852160"/>
            <a:ext cx="73152" cy="749808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41" name="Text 39"/>
          <p:cNvSpPr/>
          <p:nvPr/>
        </p:nvSpPr>
        <p:spPr>
          <a:xfrm>
            <a:off x="6400800" y="5897880"/>
            <a:ext cx="52120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34"/>
                </a:solidFill>
              </a:rPr>
              <a:t>Community Share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400800" y="617220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Farmers share diagnosis cards within WhatsApp groups automatically translated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COST-BENEFIT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5214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5A623"/>
                </a:solidFill>
              </a:rPr>
              <a:t>App vs. Agricultural Extension Officer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241280" cy="493776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6" name="Text 4"/>
          <p:cNvSpPr/>
          <p:nvPr/>
        </p:nvSpPr>
        <p:spPr>
          <a:xfrm>
            <a:off x="457200" y="1143000"/>
            <a:ext cx="28346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Metric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1143000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Extension Officer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143000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OnionGuard 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38160" y="1143000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91056"/>
            <a:ext cx="10241280" cy="4937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457200" y="1636776"/>
            <a:ext cx="28346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5"/>
                </a:solidFill>
              </a:rPr>
              <a:t>Cost per Diagnosis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636776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~$15–40 USD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1636776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52"/>
                </a:solidFill>
              </a:rPr>
              <a:t>~$0.02 USD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38160" y="1636776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1,500–2,000× cheaper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084832"/>
            <a:ext cx="10241280" cy="493776"/>
          </a:xfrm>
          <a:prstGeom prst="rect">
            <a:avLst/>
          </a:prstGeom>
          <a:solidFill>
            <a:srgbClr val="EDF5F0"/>
          </a:solidFill>
        </p:spPr>
      </p:sp>
      <p:sp>
        <p:nvSpPr>
          <p:cNvPr id="16" name="Text 14"/>
          <p:cNvSpPr/>
          <p:nvPr/>
        </p:nvSpPr>
        <p:spPr>
          <a:xfrm>
            <a:off x="457200" y="2130552"/>
            <a:ext cx="28346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5"/>
                </a:solidFill>
              </a:rPr>
              <a:t>Response 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130552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3–14 days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130552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52"/>
                </a:solidFill>
              </a:rPr>
              <a:t>&lt; 3 seconds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2130552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Instant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578608"/>
            <a:ext cx="10241280" cy="4937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457200" y="2624328"/>
            <a:ext cx="28346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5"/>
                </a:solidFill>
              </a:rPr>
              <a:t>Availability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624328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Office hours 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2624328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52"/>
                </a:solidFill>
              </a:rPr>
              <a:t>24 / 7 / 365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2624328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Always 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072384"/>
            <a:ext cx="10241280" cy="493776"/>
          </a:xfrm>
          <a:prstGeom prst="rect">
            <a:avLst/>
          </a:prstGeom>
          <a:solidFill>
            <a:srgbClr val="EDF5F0"/>
          </a:solidFill>
        </p:spPr>
      </p:sp>
      <p:sp>
        <p:nvSpPr>
          <p:cNvPr id="26" name="Text 24"/>
          <p:cNvSpPr/>
          <p:nvPr/>
        </p:nvSpPr>
        <p:spPr>
          <a:xfrm>
            <a:off x="457200" y="3118104"/>
            <a:ext cx="28346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5"/>
                </a:solidFill>
              </a:rPr>
              <a:t>Language Support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118104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1–2 languages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3118104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52"/>
                </a:solidFill>
              </a:rPr>
              <a:t>5+ languages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38160" y="3118104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Inclusive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566160"/>
            <a:ext cx="10241280" cy="4937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457200" y="3611880"/>
            <a:ext cx="28346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5"/>
                </a:solidFill>
              </a:rPr>
              <a:t>Coverage (farmers)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3611880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~200–500/year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3611880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52"/>
                </a:solidFill>
              </a:rPr>
              <a:t>Unlimited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8160" y="3611880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Scalable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059936"/>
            <a:ext cx="10241280" cy="493776"/>
          </a:xfrm>
          <a:prstGeom prst="rect">
            <a:avLst/>
          </a:prstGeom>
          <a:solidFill>
            <a:srgbClr val="EDF5F0"/>
          </a:solidFill>
        </p:spPr>
      </p:sp>
      <p:sp>
        <p:nvSpPr>
          <p:cNvPr id="36" name="Text 34"/>
          <p:cNvSpPr/>
          <p:nvPr/>
        </p:nvSpPr>
        <p:spPr>
          <a:xfrm>
            <a:off x="457200" y="4105656"/>
            <a:ext cx="28346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5"/>
                </a:solidFill>
              </a:rPr>
              <a:t>Consistency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83280" y="4105656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Variable by officer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0720" y="4105656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52"/>
                </a:solidFill>
              </a:rPr>
              <a:t>Standardized ML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38160" y="4105656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Reliable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553712"/>
            <a:ext cx="10241280" cy="49377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457200" y="4599432"/>
            <a:ext cx="28346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5"/>
                </a:solidFill>
              </a:rPr>
              <a:t>Internet Required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83280" y="4599432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No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60720" y="4599432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52"/>
                </a:solidFill>
              </a:rPr>
              <a:t>No (offline ML)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38160" y="4599432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Resilient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5047488"/>
            <a:ext cx="10241280" cy="493776"/>
          </a:xfrm>
          <a:prstGeom prst="rect">
            <a:avLst/>
          </a:prstGeom>
          <a:solidFill>
            <a:srgbClr val="EDF5F0"/>
          </a:solidFill>
        </p:spPr>
      </p:sp>
      <p:sp>
        <p:nvSpPr>
          <p:cNvPr id="46" name="Text 44"/>
          <p:cNvSpPr/>
          <p:nvPr/>
        </p:nvSpPr>
        <p:spPr>
          <a:xfrm>
            <a:off x="457200" y="5093208"/>
            <a:ext cx="28346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25"/>
                </a:solidFill>
              </a:rPr>
              <a:t>Annual Cost (1,000 farmers)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83280" y="5093208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</a:rPr>
              <a:t>~$8,000–15,000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760720" y="5093208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52"/>
                </a:solidFill>
              </a:rPr>
              <a:t>~$500–800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138160" y="5093208"/>
            <a:ext cx="246888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~20× savings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5897880"/>
            <a:ext cx="10241280" cy="777240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51" name="Text 49"/>
          <p:cNvSpPr/>
          <p:nvPr/>
        </p:nvSpPr>
        <p:spPr>
          <a:xfrm>
            <a:off x="548640" y="5943600"/>
            <a:ext cx="98755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3C34"/>
                </a:solidFill>
              </a:rPr>
              <a:t>💰  ROI Insight: A $500 app deployment serving 1,000 farmers delivers the equivalent of 25,000 extension officer visits per year. For every $1 spent on OnionGuard, farmers receive ~$30 in diagnostic value.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2E7D52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BENEFITS TO FARMERS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5214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D4F5E1"/>
                </a:solidFill>
              </a:rPr>
              <a:t>Direct Impact on Livelihoods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566160" cy="24231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3566160" cy="91440"/>
          </a:xfrm>
          <a:prstGeom prst="rect">
            <a:avLst/>
          </a:prstGeom>
          <a:solidFill>
            <a:srgbClr val="2E7D52"/>
          </a:solidFill>
        </p:spPr>
      </p:sp>
      <p:sp>
        <p:nvSpPr>
          <p:cNvPr id="7" name="Text 5"/>
          <p:cNvSpPr/>
          <p:nvPr/>
        </p:nvSpPr>
        <p:spPr>
          <a:xfrm>
            <a:off x="411480" y="123444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5"/>
                </a:solidFill>
              </a:rPr>
              <a:t>Higher Yields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2"/>
                </a:solidFill>
              </a:rPr>
              <a:t>+25%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33832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Early disease detection allows targeted treatment before spread, preserving 20–30% more yield per season compared to late detection [10].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0" y="1097280"/>
            <a:ext cx="3566160" cy="24231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1097280"/>
            <a:ext cx="3566160" cy="9144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3" name="Text 11"/>
          <p:cNvSpPr/>
          <p:nvPr/>
        </p:nvSpPr>
        <p:spPr>
          <a:xfrm>
            <a:off x="4206240" y="123444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92040" y="12344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5"/>
                </a:solidFill>
              </a:rPr>
              <a:t>Income Protection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92040" y="150876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</a:rPr>
              <a:t>$200+/yr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6240" y="1901952"/>
            <a:ext cx="33832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Average smallholder saves $180–240 per growing season by reducing total crop losses and cutting pesticide waste through precision application [11].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909560" y="1097280"/>
            <a:ext cx="3566160" cy="24231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09560" y="1097280"/>
            <a:ext cx="3566160" cy="914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9" name="Text 17"/>
          <p:cNvSpPr/>
          <p:nvPr/>
        </p:nvSpPr>
        <p:spPr>
          <a:xfrm>
            <a:off x="8001000" y="123444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686800" y="12344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5"/>
                </a:solidFill>
              </a:rPr>
              <a:t>Reduced Pesticide Use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0" y="150876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–35%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01000" y="1901952"/>
            <a:ext cx="33832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Correct disease ID prevents misdiagnosis-driven over-spraying. Studies show a 30–40% drop in chemical use when AI diagnosis is deployed [12].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3749040"/>
            <a:ext cx="3566160" cy="24231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749040"/>
            <a:ext cx="3566160" cy="914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5" name="Text 23"/>
          <p:cNvSpPr/>
          <p:nvPr/>
        </p:nvSpPr>
        <p:spPr>
          <a:xfrm>
            <a:off x="411480" y="388620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38862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5"/>
                </a:solidFill>
              </a:rPr>
              <a:t>Knowledge Empowerment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97280" y="416052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Every Farmer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1480" y="4553712"/>
            <a:ext cx="33832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Farmers access expert-level plant pathology knowledge in their own language — no education required. Democratizes agricultural expertise at village level.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0" y="3749040"/>
            <a:ext cx="3566160" cy="24231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0" y="3749040"/>
            <a:ext cx="3566160" cy="9144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1" name="Text 29"/>
          <p:cNvSpPr/>
          <p:nvPr/>
        </p:nvSpPr>
        <p:spPr>
          <a:xfrm>
            <a:off x="4206240" y="388620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892040" y="38862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5"/>
                </a:solidFill>
              </a:rPr>
              <a:t>Community Resilience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92040" y="416052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7E22"/>
                </a:solidFill>
              </a:rPr>
              <a:t>Cooperative Scale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206240" y="4553712"/>
            <a:ext cx="33832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Disease outbreak alerts broadcast to surrounding farmers. Prevents field-to-field spread that historically wipes out entire village harvests in a single season.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09560" y="3749040"/>
            <a:ext cx="3566160" cy="24231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09560" y="3749040"/>
            <a:ext cx="3566160" cy="91440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37" name="Text 35"/>
          <p:cNvSpPr/>
          <p:nvPr/>
        </p:nvSpPr>
        <p:spPr>
          <a:xfrm>
            <a:off x="8001000" y="3886200"/>
            <a:ext cx="640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8686800" y="38862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25"/>
                </a:solidFill>
              </a:rPr>
              <a:t>Food Security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686800" y="416052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F7D"/>
                </a:solidFill>
              </a:rPr>
              <a:t>National Scale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01000" y="4553712"/>
            <a:ext cx="338328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6A"/>
                </a:solidFill>
              </a:rPr>
              <a:t>Scaled to 10,000 farmers, OnionGuard could protect ~45,000 tonnes of onion production annually — a significant contribution to Ghana’s food supply and national food security.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0040" y="6583680"/>
            <a:ext cx="115214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7A6A"/>
                </a:solidFill>
              </a:rPr>
              <a:t>Sources: [10] Picon et al., 2019  [11] Kamilaris &amp; Prenafeta-Boldú, 2018  [12] Ferentinos, 2018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TECHNICAL METHODOLOGY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103120" cy="4754880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103120" cy="685800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6" name="Text 4"/>
          <p:cNvSpPr/>
          <p:nvPr/>
        </p:nvSpPr>
        <p:spPr>
          <a:xfrm>
            <a:off x="274320" y="1115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AF7D"/>
                </a:solidFill>
              </a:rPr>
              <a:t>STEP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🗃️ Data Preparation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87452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9" name="Shape 7"/>
          <p:cNvSpPr/>
          <p:nvPr/>
        </p:nvSpPr>
        <p:spPr>
          <a:xfrm>
            <a:off x="384048" y="187452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10" name="Text 8"/>
          <p:cNvSpPr/>
          <p:nvPr/>
        </p:nvSpPr>
        <p:spPr>
          <a:xfrm>
            <a:off x="438912" y="190195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TOM2024 Category B — 40,762 augmented onion images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306324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12" name="Shape 10"/>
          <p:cNvSpPr/>
          <p:nvPr/>
        </p:nvSpPr>
        <p:spPr>
          <a:xfrm>
            <a:off x="384048" y="306324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13" name="Text 11"/>
          <p:cNvSpPr/>
          <p:nvPr/>
        </p:nvSpPr>
        <p:spPr>
          <a:xfrm>
            <a:off x="438912" y="309067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6-class filter: Fusarium, Alternaria, Virosis, Caterpillars, Bulb Rot, Healthy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425196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15" name="Shape 13"/>
          <p:cNvSpPr/>
          <p:nvPr/>
        </p:nvSpPr>
        <p:spPr>
          <a:xfrm>
            <a:off x="384048" y="425196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16" name="Text 14"/>
          <p:cNvSpPr/>
          <p:nvPr/>
        </p:nvSpPr>
        <p:spPr>
          <a:xfrm>
            <a:off x="438912" y="427939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Train / Validation / Test: 70% / 15% / 15%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3383280"/>
            <a:ext cx="237744" cy="7315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18" name="Shape 16"/>
          <p:cNvSpPr/>
          <p:nvPr/>
        </p:nvSpPr>
        <p:spPr>
          <a:xfrm>
            <a:off x="2615184" y="1097280"/>
            <a:ext cx="2103120" cy="4754880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15184" y="1097280"/>
            <a:ext cx="2103120" cy="685800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20" name="Text 18"/>
          <p:cNvSpPr/>
          <p:nvPr/>
        </p:nvSpPr>
        <p:spPr>
          <a:xfrm>
            <a:off x="2615184" y="1115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AF7D"/>
                </a:solidFill>
              </a:rPr>
              <a:t>STEP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15184" y="137160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Model Training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24912" y="187452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23" name="Shape 21"/>
          <p:cNvSpPr/>
          <p:nvPr/>
        </p:nvSpPr>
        <p:spPr>
          <a:xfrm>
            <a:off x="2724912" y="187452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24" name="Text 22"/>
          <p:cNvSpPr/>
          <p:nvPr/>
        </p:nvSpPr>
        <p:spPr>
          <a:xfrm>
            <a:off x="2779776" y="190195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Base: MobileNetV3 (pretrained on ImageNet)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24912" y="306324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26" name="Shape 24"/>
          <p:cNvSpPr/>
          <p:nvPr/>
        </p:nvSpPr>
        <p:spPr>
          <a:xfrm>
            <a:off x="2724912" y="306324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27" name="Text 25"/>
          <p:cNvSpPr/>
          <p:nvPr/>
        </p:nvSpPr>
        <p:spPr>
          <a:xfrm>
            <a:off x="2779776" y="309067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Transfer learning + fine-tuning on onion classes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24912" y="425196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29" name="Shape 27"/>
          <p:cNvSpPr/>
          <p:nvPr/>
        </p:nvSpPr>
        <p:spPr>
          <a:xfrm>
            <a:off x="2724912" y="425196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30" name="Text 28"/>
          <p:cNvSpPr/>
          <p:nvPr/>
        </p:nvSpPr>
        <p:spPr>
          <a:xfrm>
            <a:off x="2779776" y="427939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Techniques: rotation, flipping, brightness augmentation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18304" y="3383280"/>
            <a:ext cx="237744" cy="7315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32" name="Shape 30"/>
          <p:cNvSpPr/>
          <p:nvPr/>
        </p:nvSpPr>
        <p:spPr>
          <a:xfrm>
            <a:off x="4956048" y="1097280"/>
            <a:ext cx="2103120" cy="4754880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56048" y="1097280"/>
            <a:ext cx="2103120" cy="685800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34" name="Text 32"/>
          <p:cNvSpPr/>
          <p:nvPr/>
        </p:nvSpPr>
        <p:spPr>
          <a:xfrm>
            <a:off x="4956048" y="1115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AF7D"/>
                </a:solidFill>
              </a:rPr>
              <a:t>STEP 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56048" y="137160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Model Optimization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65776" y="187452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37" name="Shape 35"/>
          <p:cNvSpPr/>
          <p:nvPr/>
        </p:nvSpPr>
        <p:spPr>
          <a:xfrm>
            <a:off x="5065776" y="187452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38" name="Text 36"/>
          <p:cNvSpPr/>
          <p:nvPr/>
        </p:nvSpPr>
        <p:spPr>
          <a:xfrm>
            <a:off x="5120640" y="190195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TensorFlow Lite quantization for mobile deployment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65776" y="306324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40" name="Shape 38"/>
          <p:cNvSpPr/>
          <p:nvPr/>
        </p:nvSpPr>
        <p:spPr>
          <a:xfrm>
            <a:off x="5065776" y="306324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41" name="Text 39"/>
          <p:cNvSpPr/>
          <p:nvPr/>
        </p:nvSpPr>
        <p:spPr>
          <a:xfrm>
            <a:off x="5120640" y="309067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Target size: &lt;15 MB for low-end Android phones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65776" y="425196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43" name="Shape 41"/>
          <p:cNvSpPr/>
          <p:nvPr/>
        </p:nvSpPr>
        <p:spPr>
          <a:xfrm>
            <a:off x="5065776" y="425196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44" name="Text 42"/>
          <p:cNvSpPr/>
          <p:nvPr/>
        </p:nvSpPr>
        <p:spPr>
          <a:xfrm>
            <a:off x="5120640" y="427939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Target inference time: &lt;3 seconds on mid-range device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59168" y="3383280"/>
            <a:ext cx="237744" cy="7315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46" name="Shape 44"/>
          <p:cNvSpPr/>
          <p:nvPr/>
        </p:nvSpPr>
        <p:spPr>
          <a:xfrm>
            <a:off x="7296912" y="1097280"/>
            <a:ext cx="2103120" cy="4754880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96912" y="1097280"/>
            <a:ext cx="2103120" cy="685800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48" name="Text 46"/>
          <p:cNvSpPr/>
          <p:nvPr/>
        </p:nvSpPr>
        <p:spPr>
          <a:xfrm>
            <a:off x="7296912" y="1115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AF7D"/>
                </a:solidFill>
              </a:rPr>
              <a:t>STEP 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96912" y="137160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📱 App Development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06640" y="187452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51" name="Shape 49"/>
          <p:cNvSpPr/>
          <p:nvPr/>
        </p:nvSpPr>
        <p:spPr>
          <a:xfrm>
            <a:off x="7406640" y="187452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52" name="Text 50"/>
          <p:cNvSpPr/>
          <p:nvPr/>
        </p:nvSpPr>
        <p:spPr>
          <a:xfrm>
            <a:off x="7461504" y="190195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Flutter cross-platform (Android + iOS)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06640" y="306324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54" name="Shape 52"/>
          <p:cNvSpPr/>
          <p:nvPr/>
        </p:nvSpPr>
        <p:spPr>
          <a:xfrm>
            <a:off x="7406640" y="306324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55" name="Text 53"/>
          <p:cNvSpPr/>
          <p:nvPr/>
        </p:nvSpPr>
        <p:spPr>
          <a:xfrm>
            <a:off x="7461504" y="309067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Offline inference engine built-in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406640" y="425196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57" name="Shape 55"/>
          <p:cNvSpPr/>
          <p:nvPr/>
        </p:nvSpPr>
        <p:spPr>
          <a:xfrm>
            <a:off x="7406640" y="425196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58" name="Text 56"/>
          <p:cNvSpPr/>
          <p:nvPr/>
        </p:nvSpPr>
        <p:spPr>
          <a:xfrm>
            <a:off x="7461504" y="427939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5-language UI with voice synthesis via gTTS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400032" y="3383280"/>
            <a:ext cx="237744" cy="7315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60" name="Shape 58"/>
          <p:cNvSpPr/>
          <p:nvPr/>
        </p:nvSpPr>
        <p:spPr>
          <a:xfrm>
            <a:off x="9637776" y="1097280"/>
            <a:ext cx="2103120" cy="4754880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637776" y="1097280"/>
            <a:ext cx="2103120" cy="685800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62" name="Text 60"/>
          <p:cNvSpPr/>
          <p:nvPr/>
        </p:nvSpPr>
        <p:spPr>
          <a:xfrm>
            <a:off x="9637776" y="111556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AF7D"/>
                </a:solidFill>
              </a:rPr>
              <a:t>STEP 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637776" y="1371600"/>
            <a:ext cx="2103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🌾 Field Validation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747504" y="187452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65" name="Shape 63"/>
          <p:cNvSpPr/>
          <p:nvPr/>
        </p:nvSpPr>
        <p:spPr>
          <a:xfrm>
            <a:off x="9747504" y="187452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66" name="Text 64"/>
          <p:cNvSpPr/>
          <p:nvPr/>
        </p:nvSpPr>
        <p:spPr>
          <a:xfrm>
            <a:off x="9802368" y="190195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Pilot: 50 farmers in 3 districts, Ghana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747504" y="306324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68" name="Shape 66"/>
          <p:cNvSpPr/>
          <p:nvPr/>
        </p:nvSpPr>
        <p:spPr>
          <a:xfrm>
            <a:off x="9747504" y="306324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69" name="Text 67"/>
          <p:cNvSpPr/>
          <p:nvPr/>
        </p:nvSpPr>
        <p:spPr>
          <a:xfrm>
            <a:off x="9802368" y="309067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Expert agronomist ground-truth comparison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747504" y="4251960"/>
            <a:ext cx="1883664" cy="105156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71" name="Shape 69"/>
          <p:cNvSpPr/>
          <p:nvPr/>
        </p:nvSpPr>
        <p:spPr>
          <a:xfrm>
            <a:off x="9747504" y="4251960"/>
            <a:ext cx="201168" cy="201168"/>
          </a:xfrm>
          <a:prstGeom prst="ellipse">
            <a:avLst/>
          </a:prstGeom>
          <a:solidFill>
            <a:srgbClr val="2E7D52"/>
          </a:solidFill>
        </p:spPr>
      </p:sp>
      <p:sp>
        <p:nvSpPr>
          <p:cNvPr id="72" name="Text 70"/>
          <p:cNvSpPr/>
          <p:nvPr/>
        </p:nvSpPr>
        <p:spPr>
          <a:xfrm>
            <a:off x="9802368" y="4279392"/>
            <a:ext cx="1737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25"/>
                </a:solidFill>
              </a:rPr>
              <a:t>Iterative feedback loop for model improvement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274320" y="5989320"/>
            <a:ext cx="11612880" cy="685800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74" name="Text 72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</a:rPr>
              <a:t>🏆  Expected Model Accuracy: &gt;96%  |  Based on PlanteSaine framework using TOM2024 Category B — Appiah et al., Agriculture 14(8), 2025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PROJECTED IMPACT &amp;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2103120"/>
          </a:xfrm>
          <a:prstGeom prst="rect">
            <a:avLst/>
          </a:prstGeom>
          <a:solidFill>
            <a:srgbClr val="2E7D52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10,000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20040" y="205740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Farmers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395728"/>
            <a:ext cx="2651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Phase 2 target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Ghana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2103120"/>
          </a:xfrm>
          <a:prstGeom prst="rect">
            <a:avLst/>
          </a:prstGeom>
          <a:solidFill>
            <a:srgbClr val="0D9488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96%+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00400" y="205740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Accuracy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395728"/>
            <a:ext cx="2651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ML model 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validated test set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651760" cy="2103120"/>
          </a:xfrm>
          <a:prstGeom prst="rect">
            <a:avLst/>
          </a:prstGeom>
          <a:solidFill>
            <a:srgbClr val="F5A623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18872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5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080760" y="205740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Languages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80760" y="2395728"/>
            <a:ext cx="2651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At launch: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EN, Twi, Dagbani, Ewe, Hausa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61120" y="1097280"/>
            <a:ext cx="2651760" cy="2103120"/>
          </a:xfrm>
          <a:prstGeom prst="rect">
            <a:avLst/>
          </a:prstGeom>
          <a:solidFill>
            <a:srgbClr val="1E3A5F"/>
          </a:solidFill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0" y="118872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$200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8961120" y="2057400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Savings/yr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0" y="2395728"/>
            <a:ext cx="26517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Average income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protected per farmer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20040" y="3429000"/>
          <a:ext cx="7315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7909560" y="3429000"/>
            <a:ext cx="3931920" cy="3200400"/>
          </a:xfrm>
          <a:prstGeom prst="rect">
            <a:avLst/>
          </a:prstGeom>
          <a:solidFill>
            <a:srgbClr val="FFFFFF"/>
          </a:solidFill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092440" y="35204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C34"/>
                </a:solidFill>
              </a:rPr>
              <a:t>SDG Alignment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909560" y="3931920"/>
            <a:ext cx="3931920" cy="429768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24" name="Text 21"/>
          <p:cNvSpPr/>
          <p:nvPr/>
        </p:nvSpPr>
        <p:spPr>
          <a:xfrm>
            <a:off x="8001000" y="39776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2"/>
                </a:solidFill>
              </a:rPr>
              <a:t>SDG 1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686800" y="397764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5"/>
                </a:solidFill>
              </a:rPr>
              <a:t>No Poverty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921240" y="39776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6A"/>
                </a:solidFill>
              </a:rPr>
              <a:t>Protect farmer income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7909560" y="4434840"/>
            <a:ext cx="3931920" cy="42976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5"/>
          <p:cNvSpPr/>
          <p:nvPr/>
        </p:nvSpPr>
        <p:spPr>
          <a:xfrm>
            <a:off x="8001000" y="448056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2"/>
                </a:solidFill>
              </a:rPr>
              <a:t>SDG 2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686800" y="448056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5"/>
                </a:solidFill>
              </a:rPr>
              <a:t>Zero Hunger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921240" y="44805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6A"/>
                </a:solidFill>
              </a:rPr>
              <a:t>Food security at scale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7909560" y="4937760"/>
            <a:ext cx="3931920" cy="429768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32" name="Text 29"/>
          <p:cNvSpPr/>
          <p:nvPr/>
        </p:nvSpPr>
        <p:spPr>
          <a:xfrm>
            <a:off x="8001000" y="498348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2"/>
                </a:solidFill>
              </a:rPr>
              <a:t>SDG 9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686800" y="49834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5"/>
                </a:solidFill>
              </a:rPr>
              <a:t>Innovation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921240" y="4983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6A"/>
                </a:solidFill>
              </a:rPr>
              <a:t>AI-driven AgriTech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909560" y="5440680"/>
            <a:ext cx="3931920" cy="42976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3"/>
          <p:cNvSpPr/>
          <p:nvPr/>
        </p:nvSpPr>
        <p:spPr>
          <a:xfrm>
            <a:off x="8001000" y="548640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2"/>
                </a:solidFill>
              </a:rPr>
              <a:t>SDG 10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8686800" y="548640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5"/>
                </a:solidFill>
              </a:rPr>
              <a:t>Reduced Inequalities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9921240" y="54864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6A"/>
                </a:solidFill>
              </a:rPr>
              <a:t>Multilingual inclusion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909560" y="5943600"/>
            <a:ext cx="3931920" cy="429768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40" name="Text 37"/>
          <p:cNvSpPr/>
          <p:nvPr/>
        </p:nvSpPr>
        <p:spPr>
          <a:xfrm>
            <a:off x="8001000" y="5989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52"/>
                </a:solidFill>
              </a:rPr>
              <a:t>SDG 15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686800" y="59893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25"/>
                </a:solidFill>
              </a:rPr>
              <a:t>Life on Land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9921240" y="5989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6A"/>
                </a:solidFill>
              </a:rPr>
              <a:t>Reduced pesticide use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EXECUTION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115214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F5A623"/>
                </a:solidFill>
              </a:rPr>
              <a:t>Weekly Deliverables → April 30, 2025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1887200" cy="7315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228600" y="1152144"/>
            <a:ext cx="1143000" cy="5943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228600" y="1170432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Mar 16–22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463040" y="1152144"/>
            <a:ext cx="960120" cy="594360"/>
          </a:xfrm>
          <a:prstGeom prst="rect">
            <a:avLst/>
          </a:prstGeom>
          <a:solidFill>
            <a:srgbClr val="0D9488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1463040" y="1170432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SETUP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0" y="1170432"/>
            <a:ext cx="9326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5"/>
                </a:solidFill>
              </a:rPr>
              <a:t>✓ Env setup: Python, TF, Flutter  ✓ TOM2024 onion subset download  ✓ EDA &amp; class distribution audit  ✓ Project GitHub repo initialized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901952"/>
            <a:ext cx="11887200" cy="73152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12" name="Shape 10"/>
          <p:cNvSpPr/>
          <p:nvPr/>
        </p:nvSpPr>
        <p:spPr>
          <a:xfrm>
            <a:off x="228600" y="1956816"/>
            <a:ext cx="1143000" cy="594360"/>
          </a:xfrm>
          <a:prstGeom prst="rect">
            <a:avLst/>
          </a:prstGeom>
          <a:solidFill>
            <a:srgbClr val="2E7D52"/>
          </a:solidFill>
        </p:spPr>
      </p:sp>
      <p:sp>
        <p:nvSpPr>
          <p:cNvPr id="13" name="Text 11"/>
          <p:cNvSpPr/>
          <p:nvPr/>
        </p:nvSpPr>
        <p:spPr>
          <a:xfrm>
            <a:off x="228600" y="1975104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Mar 23–29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463040" y="1956816"/>
            <a:ext cx="960120" cy="594360"/>
          </a:xfrm>
          <a:prstGeom prst="rect">
            <a:avLst/>
          </a:prstGeom>
          <a:solidFill>
            <a:srgbClr val="2E7D52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1463040" y="1975104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</a:rPr>
              <a:t>DATA PREP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60320" y="1975104"/>
            <a:ext cx="9326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5"/>
                </a:solidFill>
              </a:rPr>
              <a:t>✓ Data cleaning &amp; validation  ✓ Train/val/test split (70/15/15)  ✓ Augmentation pipeline coded  ✓ Image normalization completed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706624"/>
            <a:ext cx="11887200" cy="7315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228600" y="2761488"/>
            <a:ext cx="1143000" cy="59436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9" name="Text 17"/>
          <p:cNvSpPr/>
          <p:nvPr/>
        </p:nvSpPr>
        <p:spPr>
          <a:xfrm>
            <a:off x="228600" y="2779776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Mar 30–Apr 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463040" y="2761488"/>
            <a:ext cx="960120" cy="594360"/>
          </a:xfrm>
          <a:prstGeom prst="rect">
            <a:avLst/>
          </a:prstGeom>
          <a:solidFill>
            <a:srgbClr val="F5A623">
              <a:alpha val="2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1463040" y="2779776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</a:rPr>
              <a:t>MODEL V1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60320" y="2779776"/>
            <a:ext cx="9326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5"/>
                </a:solidFill>
              </a:rPr>
              <a:t>✓ MobileNetV3 base loaded  ✓ Transfer learning: 20 epochs  ✓ Baseline accuracy logged  ✓ Confusion matrix analyzed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511296"/>
            <a:ext cx="11887200" cy="73152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24" name="Shape 22"/>
          <p:cNvSpPr/>
          <p:nvPr/>
        </p:nvSpPr>
        <p:spPr>
          <a:xfrm>
            <a:off x="228600" y="3566160"/>
            <a:ext cx="1143000" cy="594360"/>
          </a:xfrm>
          <a:prstGeom prst="rect">
            <a:avLst/>
          </a:prstGeom>
          <a:solidFill>
            <a:srgbClr val="D4881A"/>
          </a:solidFill>
        </p:spPr>
      </p:sp>
      <p:sp>
        <p:nvSpPr>
          <p:cNvPr id="25" name="Text 23"/>
          <p:cNvSpPr/>
          <p:nvPr/>
        </p:nvSpPr>
        <p:spPr>
          <a:xfrm>
            <a:off x="228600" y="3584448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4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Apr 6–12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463040" y="3566160"/>
            <a:ext cx="960120" cy="594360"/>
          </a:xfrm>
          <a:prstGeom prst="rect">
            <a:avLst/>
          </a:prstGeom>
          <a:solidFill>
            <a:srgbClr val="D4881A">
              <a:alpha val="2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1463040" y="3584448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881A"/>
                </a:solidFill>
              </a:rPr>
              <a:t>FINE-TUNE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560320" y="3584448"/>
            <a:ext cx="9326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5"/>
                </a:solidFill>
              </a:rPr>
              <a:t>✓ Hyperparameter optimization  ✓ Class weighting for imbalance  ✓ Target: &gt;93% validation acc.  ✓ Model checkpoint saved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4315968"/>
            <a:ext cx="11887200" cy="7315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Shape 28"/>
          <p:cNvSpPr/>
          <p:nvPr/>
        </p:nvSpPr>
        <p:spPr>
          <a:xfrm>
            <a:off x="228600" y="4370832"/>
            <a:ext cx="1143000" cy="59436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1" name="Text 29"/>
          <p:cNvSpPr/>
          <p:nvPr/>
        </p:nvSpPr>
        <p:spPr>
          <a:xfrm>
            <a:off x="228600" y="4389120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5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Apr 13–19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463040" y="4370832"/>
            <a:ext cx="960120" cy="594360"/>
          </a:xfrm>
          <a:prstGeom prst="rect">
            <a:avLst/>
          </a:prstGeom>
          <a:solidFill>
            <a:srgbClr val="1E3A5F">
              <a:alpha val="2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1463040" y="4389120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E3A5F"/>
                </a:solidFill>
              </a:rPr>
              <a:t>APP BUILD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60320" y="4389120"/>
            <a:ext cx="9326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5"/>
                </a:solidFill>
              </a:rPr>
              <a:t>✓ TFLite conversion &amp; quantization  ✓ Flutter shell app with camera  ✓ Offline inference integrated  ✓ 5-language UI strings added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5120640"/>
            <a:ext cx="11887200" cy="731520"/>
          </a:xfrm>
          <a:prstGeom prst="rect">
            <a:avLst/>
          </a:prstGeom>
          <a:solidFill>
            <a:srgbClr val="F0F7F3"/>
          </a:solidFill>
        </p:spPr>
      </p:sp>
      <p:sp>
        <p:nvSpPr>
          <p:cNvPr id="36" name="Shape 34"/>
          <p:cNvSpPr/>
          <p:nvPr/>
        </p:nvSpPr>
        <p:spPr>
          <a:xfrm>
            <a:off x="228600" y="5175504"/>
            <a:ext cx="1143000" cy="594360"/>
          </a:xfrm>
          <a:prstGeom prst="rect">
            <a:avLst/>
          </a:prstGeom>
          <a:solidFill>
            <a:srgbClr val="2E7D52"/>
          </a:solidFill>
        </p:spPr>
      </p:sp>
      <p:sp>
        <p:nvSpPr>
          <p:cNvPr id="37" name="Text 35"/>
          <p:cNvSpPr/>
          <p:nvPr/>
        </p:nvSpPr>
        <p:spPr>
          <a:xfrm>
            <a:off x="228600" y="5193792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6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Apr 20–26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463040" y="5175504"/>
            <a:ext cx="960120" cy="594360"/>
          </a:xfrm>
          <a:prstGeom prst="rect">
            <a:avLst/>
          </a:prstGeom>
          <a:solidFill>
            <a:srgbClr val="2E7D52">
              <a:alpha val="2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1463040" y="5193792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7D52"/>
                </a:solidFill>
              </a:rPr>
              <a:t>PILOT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560320" y="5193792"/>
            <a:ext cx="9326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5"/>
                </a:solidFill>
              </a:rPr>
              <a:t>✓ App deployed to test device  ✓ Pilot with 5 field images/class  ✓ Voice output in Twi tested  ✓ Bug fix &amp; UX iteration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" y="5925312"/>
            <a:ext cx="11887200" cy="7315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Shape 40"/>
          <p:cNvSpPr/>
          <p:nvPr/>
        </p:nvSpPr>
        <p:spPr>
          <a:xfrm>
            <a:off x="228600" y="5980176"/>
            <a:ext cx="1143000" cy="594360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43" name="Text 41"/>
          <p:cNvSpPr/>
          <p:nvPr/>
        </p:nvSpPr>
        <p:spPr>
          <a:xfrm>
            <a:off x="228600" y="5998464"/>
            <a:ext cx="1143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Week 7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Apr 27–30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463040" y="5980176"/>
            <a:ext cx="960120" cy="594360"/>
          </a:xfrm>
          <a:prstGeom prst="rect">
            <a:avLst/>
          </a:prstGeom>
          <a:solidFill>
            <a:srgbClr val="4CAF7D">
              <a:alpha val="20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1463040" y="5998464"/>
            <a:ext cx="960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CAF7D"/>
                </a:solidFill>
              </a:rPr>
              <a:t>DELIVERY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60320" y="5998464"/>
            <a:ext cx="9326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25"/>
                </a:solidFill>
              </a:rPr>
              <a:t>✓ Final model accuracy report  ✓ APK build ready for pilot  ✓ Documentation complete  ✓ Demo video recorded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6675120"/>
            <a:ext cx="11887200" cy="109728"/>
          </a:xfrm>
          <a:prstGeom prst="rect">
            <a:avLst/>
          </a:prstGeom>
          <a:solidFill>
            <a:srgbClr val="F5A623"/>
          </a:solid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BUDGET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887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F5E1"/>
                </a:solidFill>
              </a:rPr>
              <a:t>OnionGuard — Ghana Deployment Estimate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11612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7A6A"/>
                </a:solidFill>
              </a:rPr>
              <a:t>All costs in USD with GH₵ equivalent (1 USD = GH₵ 10.87, XE.com March 2026). Exchange rate sourced from XE.com / Trading Economics, March 15, 2026.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274320" y="1051560"/>
          <a:ext cx="11887200" cy="512064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188720"/>
                <a:gridCol w="1463040"/>
                <a:gridCol w="1554480"/>
                <a:gridCol w="310896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Unit Cost (USD)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(USD)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(GH₵)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5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3C34"/>
                          </a:solidFill>
                        </a:rPr>
                        <a:t>Google Play Store (Android)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$25 one-time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52"/>
                          </a:solidFill>
                        </a:rPr>
                        <a:t>$25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GH₵272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One-time Android developer registration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3C34"/>
                          </a:solidFill>
                        </a:rPr>
                        <a:t>Apple App Store (iOS)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$99/year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52"/>
                          </a:solidFill>
                        </a:rPr>
                        <a:t>$99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GH₵1,076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Annual Apple Developer Program fee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3C34"/>
                          </a:solidFill>
                        </a:rPr>
                        <a:t>Cloud Hosting (AWS/GCP)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$30/month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6 months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52"/>
                          </a:solidFill>
                        </a:rPr>
                        <a:t>$180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GH₵1,957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Model API + storage during pilot phase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3C34"/>
                          </a:solidFill>
                        </a:rPr>
                        <a:t>TOM2024 Dataset Access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Free (open access)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52"/>
                          </a:solidFill>
                        </a:rPr>
                        <a:t>$0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GH₵0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Mendeley Data — DOI: 10.17632/3d4yg89rtr.1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3C34"/>
                          </a:solidFill>
                        </a:rPr>
                        <a:t>GPU Training (Google Colab Pro)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$10/month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3 months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52"/>
                          </a:solidFill>
                        </a:rPr>
                        <a:t>$30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GH₵326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MobileNetV3 fine-tuning on onion classes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3C34"/>
                          </a:solidFill>
                        </a:rPr>
                        <a:t>Flutter / TFLite Licenses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Free (open source)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52"/>
                          </a:solidFill>
                        </a:rPr>
                        <a:t>$0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GH₵0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Apache 2.0 — no cost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3C34"/>
                          </a:solidFill>
                        </a:rPr>
                        <a:t>gTTS Voice Synthesis API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$5/month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6 months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52"/>
                          </a:solidFill>
                        </a:rPr>
                        <a:t>$30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GH₵326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Twi, Dagbani, Ewe, Hausa, English voice output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3C34"/>
                          </a:solidFill>
                        </a:rPr>
                        <a:t>LLM Disease Summary + Chatbot</a:t>
                      </a:r>
                      <a:endParaRPr lang="en-US" sz="950" dirty="0"/>
                    </a:p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3C34"/>
                          </a:solidFill>
                        </a:rPr>
                        <a:t>(Claude Haiku 4.5 API)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$10/month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6 months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52"/>
                          </a:solidFill>
                        </a:rPr>
                        <a:t>$60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GH₵652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AI disease explanation &amp; local-language chatbot</a:t>
                      </a:r>
                      <a:endParaRPr lang="en-US" sz="950" dirty="0"/>
                    </a:p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~$1/M input, $5/M output — Anthropic, 2026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3C34"/>
                          </a:solidFill>
                        </a:rPr>
                        <a:t>Field Pilot Logistics (Ghana)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1A3C34"/>
                          </a:solidFill>
                        </a:rPr>
                        <a:t>TBD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1A3C3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2E7D52"/>
                          </a:solidFill>
                        </a:rPr>
                        <a:t>TBD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i="1" dirty="0">
                          <a:solidFill>
                            <a:srgbClr val="0D9488"/>
                          </a:solidFill>
                        </a:rPr>
                        <a:t>TBD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Transport &amp; data collection — yet to be determined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3C34"/>
                          </a:solidFill>
                        </a:rPr>
                        <a:t>UI/UX Design Tools (Figma)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Free (Starter plan)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52"/>
                          </a:solidFill>
                        </a:rPr>
                        <a:t>$0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GH₵0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Figma free tier sufficient for prototype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3C34"/>
                          </a:solidFill>
                        </a:rPr>
                        <a:t>Contingency (10%)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—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E7D52"/>
                          </a:solidFill>
                        </a:rPr>
                        <a:t>$42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9488"/>
                          </a:solidFill>
                        </a:rPr>
                        <a:t>GH₵457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3C34"/>
                          </a:solidFill>
                        </a:rPr>
                        <a:t>Buffer for unforeseen costs (excl. TBD items)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(excl. pilot logistics)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$466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GH₵5,065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3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6583680"/>
            <a:ext cx="116128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C7A6A"/>
                </a:solidFill>
              </a:rPr>
              <a:t>Sources: Google Play Console — play.google.com/console | Apple Developer Program — developer.apple.com | Claude Haiku 4.5 API pricing — Anthropic, 2026 (docs.anthropic.com) | Exchange rate: XE.com / Trading Economics, March 15, 2026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ROLES &amp; RESPONSIBILITIES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887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D4F5E1"/>
                </a:solidFill>
              </a:rPr>
              <a:t>Team Accountability — OnionGuard Ghana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804672"/>
            <a:ext cx="38404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804672"/>
            <a:ext cx="3840480" cy="640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896112"/>
            <a:ext cx="36210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</a:rPr>
              <a:t>Nathaniel Adika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1188720"/>
            <a:ext cx="362102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7D52"/>
                </a:solidFill>
              </a:rPr>
              <a:t>Mobile App Developer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0896" y="1463040"/>
            <a:ext cx="3621024" cy="0"/>
          </a:xfrm>
          <a:prstGeom prst="line">
            <a:avLst/>
          </a:prstGeom>
          <a:noFill/>
          <a:ln w="6350">
            <a:solidFill>
              <a:srgbClr val="D1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536192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Lead Flutter mobile app development (Android + iOS)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Integrate TFLite model into offline inference engine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Build 5-language UI (EN, Twi, Dagbani, Ewe, Hausa)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ML Training: Caterpillar Infestation &amp; Healthy Leaf (Baseline) classes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Responsible for Google Play &amp; App Store submission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60520" y="804672"/>
            <a:ext cx="38404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60520" y="804672"/>
            <a:ext cx="3840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896112"/>
            <a:ext cx="36210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</a:rPr>
              <a:t>Issah Jarah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70248" y="1188720"/>
            <a:ext cx="362102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</a:rPr>
              <a:t>ML Engineer — Disease Training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70248" y="1463040"/>
            <a:ext cx="3621024" cy="0"/>
          </a:xfrm>
          <a:prstGeom prst="line">
            <a:avLst/>
          </a:prstGeom>
          <a:noFill/>
          <a:ln w="6350">
            <a:solidFill>
              <a:srgbClr val="D1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0248" y="1536192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Train &amp; validate model on Alternaria Leaf Blight class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Train &amp; validate model on Fusarium Basal Rot class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Run confusion matrix analysis and class-level accuracy reports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Apply augmentation pipeline for low-sample classes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Document training logs and model checkpoints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119872" y="804672"/>
            <a:ext cx="384048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19872" y="804672"/>
            <a:ext cx="38404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896112"/>
            <a:ext cx="36210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</a:rPr>
              <a:t>Elvis Kwabena Asare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1188720"/>
            <a:ext cx="362102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A623"/>
                </a:solidFill>
              </a:rPr>
              <a:t>ML Engineer — Disease Training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229600" y="1463040"/>
            <a:ext cx="3621024" cy="0"/>
          </a:xfrm>
          <a:prstGeom prst="line">
            <a:avLst/>
          </a:prstGeom>
          <a:noFill/>
          <a:ln w="6350">
            <a:solidFill>
              <a:srgbClr val="D1E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536192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Train &amp; validate model on Virosis (Onion Yellow Dwarf) class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Train &amp; validate model on Bulb Rot (Botrytis / Neck Rot) class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Tune hyperparameters for target &gt;96% validation accuracy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Handle class imbalance weighting for rare classes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Deliver TFLite quantized model under 15 MB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554480" y="3675888"/>
            <a:ext cx="41148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554480" y="3675888"/>
            <a:ext cx="41148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64208" y="3767328"/>
            <a:ext cx="38953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</a:rPr>
              <a:t>Benedicta Afi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64208" y="4059936"/>
            <a:ext cx="3895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0392B"/>
                </a:solidFill>
              </a:rPr>
              <a:t>Project Manager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64208" y="4334256"/>
            <a:ext cx="3895344" cy="0"/>
          </a:xfrm>
          <a:prstGeom prst="line">
            <a:avLst/>
          </a:prstGeom>
          <a:noFill/>
          <a:ln w="6350">
            <a:solidFill>
              <a:srgbClr val="D1E8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64208" y="4407408"/>
            <a:ext cx="39319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Oversee overall project timeline and sprint delivery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Hold ML training team accountable to weekly milestones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Coordinate between app dev, ML, and field validation teams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Manage stakeholder communication and reporting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Ensure ethical data use and farmer consent compliance in Ghana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92240" y="3675888"/>
            <a:ext cx="41148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D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3675888"/>
            <a:ext cx="4114800" cy="640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3767328"/>
            <a:ext cx="38953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34"/>
                </a:solidFill>
              </a:rPr>
              <a:t>Emmanuel Bobbie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01968" y="4059936"/>
            <a:ext cx="38953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D2E46"/>
                </a:solidFill>
              </a:rPr>
              <a:t>Project Manager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01968" y="4334256"/>
            <a:ext cx="3895344" cy="0"/>
          </a:xfrm>
          <a:prstGeom prst="line">
            <a:avLst/>
          </a:prstGeom>
          <a:noFill/>
          <a:ln w="6350">
            <a:solidFill>
              <a:srgbClr val="D1E8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4407408"/>
            <a:ext cx="39319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Co-manage project execution alongside Benedicta Afi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Track task completion against execution plan deadlines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Hold model training members accountable on timeline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Facilitate weekly team stand-ups and blocker resolution</a:t>
            </a:r>
            <a:endParaRPr lang="en-US" sz="8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A3C34"/>
                </a:solidFill>
              </a:rPr>
              <a:t>Prepare final delivery report and demo documentation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6565392"/>
            <a:ext cx="11612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7A6A"/>
                </a:solidFill>
              </a:rPr>
              <a:t>Project Managers (Benedicta Afi &amp; Emmanuel Bobbie) hold all ML training team members accountable for timeline adherence and task completion per the Execution Plan.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63026"/>
          </a:solidFill>
        </p:spPr>
      </p:sp>
      <p:sp>
        <p:nvSpPr>
          <p:cNvPr id="3" name="Text 1"/>
          <p:cNvSpPr/>
          <p:nvPr/>
        </p:nvSpPr>
        <p:spPr>
          <a:xfrm>
            <a:off x="365760" y="0"/>
            <a:ext cx="1152144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REFERENCES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669280" cy="804672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5" name="Shape 3"/>
          <p:cNvSpPr/>
          <p:nvPr/>
        </p:nvSpPr>
        <p:spPr>
          <a:xfrm>
            <a:off x="320040" y="1097280"/>
            <a:ext cx="64008" cy="8046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6" name="Text 4"/>
          <p:cNvSpPr/>
          <p:nvPr/>
        </p:nvSpPr>
        <p:spPr>
          <a:xfrm>
            <a:off x="484632" y="1152144"/>
            <a:ext cx="539496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BC"/>
                </a:solidFill>
              </a:rPr>
              <a:t>[1]  Andersson &amp; Isgren (2021). Gambling in the garden: pesticide use and risk exposure in Ugandan smallholder farming. J. Rural Studies 82. https://doi.org/10.1016/j.jrurstud.2021.01.013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993392"/>
            <a:ext cx="5669280" cy="804672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8" name="Shape 6"/>
          <p:cNvSpPr/>
          <p:nvPr/>
        </p:nvSpPr>
        <p:spPr>
          <a:xfrm>
            <a:off x="320040" y="1993392"/>
            <a:ext cx="64008" cy="8046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9" name="Text 7"/>
          <p:cNvSpPr/>
          <p:nvPr/>
        </p:nvSpPr>
        <p:spPr>
          <a:xfrm>
            <a:off x="484632" y="2048256"/>
            <a:ext cx="539496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BC"/>
                </a:solidFill>
              </a:rPr>
              <a:t>[2]  FAO (2023). Food and Agriculture Organization: Crop Losses &amp; Food Security in Sub-Saharan Africa. https://www.fao.org/food-agriculture-statistics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2889504"/>
            <a:ext cx="5669280" cy="804672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11" name="Shape 9"/>
          <p:cNvSpPr/>
          <p:nvPr/>
        </p:nvSpPr>
        <p:spPr>
          <a:xfrm>
            <a:off x="320040" y="2889504"/>
            <a:ext cx="64008" cy="8046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12" name="Text 10"/>
          <p:cNvSpPr/>
          <p:nvPr/>
        </p:nvSpPr>
        <p:spPr>
          <a:xfrm>
            <a:off x="484632" y="2944368"/>
            <a:ext cx="539496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BC"/>
                </a:solidFill>
              </a:rPr>
              <a:t>[3]  Dr. Anambam (2023). Extension Officer Ratio in Ghana. Business &amp; Financial Times (B&amp;FT), July 2023. / MOFA Ghana — Eric Opoku, Minister of Food &amp; Agriculture (2025). https://mofa.gov.gh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3785616"/>
            <a:ext cx="5669280" cy="804672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14" name="Shape 12"/>
          <p:cNvSpPr/>
          <p:nvPr/>
        </p:nvSpPr>
        <p:spPr>
          <a:xfrm>
            <a:off x="320040" y="3785616"/>
            <a:ext cx="64008" cy="8046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15" name="Text 13"/>
          <p:cNvSpPr/>
          <p:nvPr/>
        </p:nvSpPr>
        <p:spPr>
          <a:xfrm>
            <a:off x="484632" y="3840480"/>
            <a:ext cx="539496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BC"/>
                </a:solidFill>
              </a:rPr>
              <a:t>[4]  Cramer, C.S. (2000). Breeding and genetics of Fusarium basal rot resistance in onion. Euphytica 115(3), 159–166. https://doi.org/10.1023/A:1004030419324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4681728"/>
            <a:ext cx="5669280" cy="804672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17" name="Shape 15"/>
          <p:cNvSpPr/>
          <p:nvPr/>
        </p:nvSpPr>
        <p:spPr>
          <a:xfrm>
            <a:off x="320040" y="4681728"/>
            <a:ext cx="64008" cy="8046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18" name="Text 16"/>
          <p:cNvSpPr/>
          <p:nvPr/>
        </p:nvSpPr>
        <p:spPr>
          <a:xfrm>
            <a:off x="484632" y="4736592"/>
            <a:ext cx="539496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BC"/>
                </a:solidFill>
              </a:rPr>
              <a:t>[5]  Schwartz &amp; Mohan (2008). Compendium of Onion and Garlic Diseases and Pests. 2nd ed. APS Press. https://www.apsnet.org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5577840"/>
            <a:ext cx="5669280" cy="804672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20" name="Shape 18"/>
          <p:cNvSpPr/>
          <p:nvPr/>
        </p:nvSpPr>
        <p:spPr>
          <a:xfrm>
            <a:off x="320040" y="5577840"/>
            <a:ext cx="64008" cy="8046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21" name="Text 19"/>
          <p:cNvSpPr/>
          <p:nvPr/>
        </p:nvSpPr>
        <p:spPr>
          <a:xfrm>
            <a:off x="484632" y="5632704"/>
            <a:ext cx="539496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BC"/>
                </a:solidFill>
              </a:rPr>
              <a:t>[6]  Barg, E. &amp; Doong, T. (1994). Onion Yellow Dwarf Virus. CMI/AAB Description of Plant Viruses No. 158. https://www.dpvweb.net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09360" y="1097280"/>
            <a:ext cx="5669280" cy="804672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23" name="Shape 21"/>
          <p:cNvSpPr/>
          <p:nvPr/>
        </p:nvSpPr>
        <p:spPr>
          <a:xfrm>
            <a:off x="6309360" y="1097280"/>
            <a:ext cx="64008" cy="8046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24" name="Text 22"/>
          <p:cNvSpPr/>
          <p:nvPr/>
        </p:nvSpPr>
        <p:spPr>
          <a:xfrm>
            <a:off x="6473952" y="1152144"/>
            <a:ext cx="539496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BC"/>
                </a:solidFill>
              </a:rPr>
              <a:t>[7]  Nagoshi, R.N. et al. (2019). Fall armyworm in Africa: a new and unexpected threat. CABI. https://doi.org/10.1079/9781789241907.0000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309360" y="1993392"/>
            <a:ext cx="5669280" cy="804672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26" name="Shape 24"/>
          <p:cNvSpPr/>
          <p:nvPr/>
        </p:nvSpPr>
        <p:spPr>
          <a:xfrm>
            <a:off x="6309360" y="1993392"/>
            <a:ext cx="64008" cy="8046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27" name="Text 25"/>
          <p:cNvSpPr/>
          <p:nvPr/>
        </p:nvSpPr>
        <p:spPr>
          <a:xfrm>
            <a:off x="6473952" y="2048256"/>
            <a:ext cx="539496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BC"/>
                </a:solidFill>
              </a:rPr>
              <a:t>[8]  Maude, R.B. (1990). Neck rot (Botrytis allii) of bulb onions: pathogens and disease epidemiology. Plant Pathol. 39(1), 16–30. https://doi.org/10.1111/j.1365-3059.1990.tb02477.x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09360" y="2889504"/>
            <a:ext cx="5669280" cy="804672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29" name="Shape 27"/>
          <p:cNvSpPr/>
          <p:nvPr/>
        </p:nvSpPr>
        <p:spPr>
          <a:xfrm>
            <a:off x="6309360" y="2889504"/>
            <a:ext cx="64008" cy="8046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30" name="Text 28"/>
          <p:cNvSpPr/>
          <p:nvPr/>
        </p:nvSpPr>
        <p:spPr>
          <a:xfrm>
            <a:off x="6473952" y="2944368"/>
            <a:ext cx="539496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BC"/>
                </a:solidFill>
              </a:rPr>
              <a:t>[9]  Appiah, O. et al. (2025). TOM2024: Datasets of tomato, onion, and maize images for AI-based classification models. Data in Brief 59, 111357. https://doi.org/10.1016/j.dib.2025.111357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09360" y="3785616"/>
            <a:ext cx="5669280" cy="804672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32" name="Shape 30"/>
          <p:cNvSpPr/>
          <p:nvPr/>
        </p:nvSpPr>
        <p:spPr>
          <a:xfrm>
            <a:off x="6309360" y="3785616"/>
            <a:ext cx="64008" cy="8046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33" name="Text 31"/>
          <p:cNvSpPr/>
          <p:nvPr/>
        </p:nvSpPr>
        <p:spPr>
          <a:xfrm>
            <a:off x="6473952" y="3840480"/>
            <a:ext cx="539496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BC"/>
                </a:solidFill>
              </a:rPr>
              <a:t>[10] Picon, A. et al. (2019). Deep CNNs for mobile capture device-based crop disease classification in the wild. Comput. Electron. Agric. 161, 280–290. https://doi.org/10.1016/j.compag.2018.04.002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09360" y="4681728"/>
            <a:ext cx="5669280" cy="804672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35" name="Shape 33"/>
          <p:cNvSpPr/>
          <p:nvPr/>
        </p:nvSpPr>
        <p:spPr>
          <a:xfrm>
            <a:off x="6309360" y="4681728"/>
            <a:ext cx="64008" cy="8046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36" name="Text 34"/>
          <p:cNvSpPr/>
          <p:nvPr/>
        </p:nvSpPr>
        <p:spPr>
          <a:xfrm>
            <a:off x="6473952" y="4736592"/>
            <a:ext cx="539496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BC"/>
                </a:solidFill>
              </a:rPr>
              <a:t>[11] Kamilaris, A. &amp; Prenafeta-Boldú, F.X. (2018). Deep learning in agriculture: a survey. Comput. Electron. Agric. 147, 70–90. https://doi.org/10.1016/j.compag.2018.02.016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09360" y="5577840"/>
            <a:ext cx="5669280" cy="804672"/>
          </a:xfrm>
          <a:prstGeom prst="rect">
            <a:avLst/>
          </a:prstGeom>
          <a:solidFill>
            <a:srgbClr val="1A3C34"/>
          </a:solidFill>
        </p:spPr>
      </p:sp>
      <p:sp>
        <p:nvSpPr>
          <p:cNvPr id="38" name="Shape 36"/>
          <p:cNvSpPr/>
          <p:nvPr/>
        </p:nvSpPr>
        <p:spPr>
          <a:xfrm>
            <a:off x="6309360" y="5577840"/>
            <a:ext cx="64008" cy="804672"/>
          </a:xfrm>
          <a:prstGeom prst="rect">
            <a:avLst/>
          </a:prstGeom>
          <a:solidFill>
            <a:srgbClr val="4CAF7D"/>
          </a:solidFill>
        </p:spPr>
      </p:sp>
      <p:sp>
        <p:nvSpPr>
          <p:cNvPr id="39" name="Text 37"/>
          <p:cNvSpPr/>
          <p:nvPr/>
        </p:nvSpPr>
        <p:spPr>
          <a:xfrm>
            <a:off x="6473952" y="5632704"/>
            <a:ext cx="5394960" cy="6949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D5BC"/>
                </a:solidFill>
              </a:rPr>
              <a:t>[12] Ferentinos, K.P. (2018). Deep learning models for plant disease detection and diagnosis. Comput. Electron. Agric. 145, 311–318. https://doi.org/10.1016/j.compag.2018.01.009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13847</Words>
  <Application>WPS Presentation</Application>
  <PresentationFormat>On-screen Show (16:9)</PresentationFormat>
  <Paragraphs>751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OnionGuard: AI-Powered Onion Disease Detection</dc:title>
  <dc:creator>PptxGenJS</dc:creator>
  <dc:subject>PptxGenJS Presentation</dc:subject>
  <cp:lastModifiedBy>Esinam Adika</cp:lastModifiedBy>
  <cp:revision>3</cp:revision>
  <dcterms:created xsi:type="dcterms:W3CDTF">2026-03-15T17:13:00Z</dcterms:created>
  <dcterms:modified xsi:type="dcterms:W3CDTF">2026-03-16T09:54:08Z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B32F8F062A2B45ADB964F485EDF0A862_12</vt:lpwstr>
  </property>
  <property fmtid="{D5CDD505-2E9C-101B-9397-08002B2CF9AE}" pid="3" name="KSOProductBuildVer">
    <vt:lpwstr>1033-12.2.0.23131</vt:lpwstr>
  </property>
</Properties>
</file>