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4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</Types>
</file>

<file path=_rels/.rels><?xml version="1.0" encoding="UTF-8"?>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72" r:id="rId4"/>
    <p:sldId id="273" r:id="rId5"/>
    <p:sldId id="258" r:id="rId6"/>
    <p:sldId id="259" r:id="rId7"/>
    <p:sldId id="260" r:id="rId8"/>
    <p:sldId id="261" r:id="rId9"/>
    <p:sldId id="262" r:id="rId10"/>
    <p:sldId id="274" r:id="rId11"/>
    <p:sldId id="263" r:id="rId12"/>
    <p:sldId id="265" r:id="rId13"/>
    <p:sldId id="267" r:id="rId15"/>
    <p:sldId id="275" r:id="rId22"/>
    <p:sldId id="276" r:id="rId23"/>
    <p:sldId id="277" r:id="rId24"/>
    <p:sldId id="270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616" y="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/Relationship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?>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?>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?>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?>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.png"/></Relationships>
</file>

<file path=ppt/slides/_rels/slide9.xml.rels><?xml version="1.0" encoding="UTF-8"?>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7.png"/></Relationships>
</file>

<file path=ppt/slides/_rels/slide10.xml.rels><?xml version="1.0" encoding="UTF-8"?>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0.png"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?>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E7D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678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onion-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0" y="457200"/>
            <a:ext cx="2743200" cy="1828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1371600"/>
            <a:ext cx="7315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400" b="1">
                <a:solidFill>
                  <a:srgbClr val="FFFFFF"/>
                </a:solidFill>
                <a:latin typeface="Calibri"/>
              </a:defRPr>
            </a:pPr>
            <a:r>
              <a:t>OnionGuard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56032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C8FFC8"/>
                </a:solidFill>
                <a:latin typeface="Calibri"/>
              </a:defRPr>
            </a:pPr>
            <a:r>
              <a:t>AI-Powered Onion Disease Detection for Farmers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3474720"/>
            <a:ext cx="2743200" cy="38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43891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4E6B4"/>
                </a:solidFill>
                <a:latin typeface="Calibri"/>
              </a:defRPr>
            </a:pPr>
            <a:r>
              <a:rPr dirty="0"/>
              <a:t>Nkabom Honours Team  |  University of Ghana  | 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303520"/>
            <a:ext cx="9144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EB3B"/>
                </a:solidFill>
                <a:latin typeface="Calibri"/>
              </a:defRPr>
            </a:pPr>
            <a:r>
              <a:rPr dirty="0"/>
              <a:t xml:space="preserve">Currently </a:t>
            </a:r>
            <a:r>
              <a:rPr lang="en-US" dirty="0" smtClean="0"/>
              <a:t>Live</a:t>
            </a:r>
            <a:r>
              <a:rPr dirty="0" smtClean="0"/>
              <a:t xml:space="preserve"> </a:t>
            </a:r>
            <a:r>
              <a:rPr dirty="0"/>
              <a:t>on Google Play Store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-18473"/>
            <a:ext cx="12191695" cy="109728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8FFC8"/>
                </a:solidFill>
                <a:latin typeface="Calibri"/>
              </a:defRPr>
            </a:pPr>
            <a:r>
              <a:t>Why OnionGuard is needed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463040"/>
            <a:ext cx="3200400" cy="2011680"/>
          </a:xfrm>
          <a:prstGeom prst="rect">
            <a:avLst/>
          </a:prstGeom>
          <a:solidFill>
            <a:srgbClr val="FFEB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164592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D32F2F"/>
                </a:solidFill>
                <a:latin typeface="Calibri"/>
              </a:defRPr>
            </a:pPr>
            <a:r>
              <a:t>50%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286000"/>
            <a:ext cx="274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12121"/>
                </a:solidFill>
                <a:latin typeface="Calibri"/>
              </a:defRPr>
            </a:pPr>
            <a:r>
              <a:t>Crop losses in West Africa</a:t>
            </a:r>
            <a:br/>
            <a:r>
              <a:t>due to pests &amp; diseases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3749039"/>
            <a:ext cx="3200400" cy="201168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31520" y="393192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1565C0"/>
                </a:solidFill>
                <a:latin typeface="Calibri"/>
              </a:defRPr>
            </a:pPr>
            <a:r>
              <a:t>ZERO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572000"/>
            <a:ext cx="274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12121"/>
                </a:solidFill>
                <a:latin typeface="Calibri"/>
              </a:defRPr>
            </a:pPr>
            <a:r>
              <a:t>Pre-existing ML models for</a:t>
            </a:r>
            <a:br/>
            <a:r>
              <a:t>onion disease classification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20" y="146304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E7D32"/>
                </a:solidFill>
                <a:latin typeface="Calibri"/>
              </a:defRPr>
            </a:pPr>
            <a:r>
              <a:t>Key Challenges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20" y="2011680"/>
            <a:ext cx="6858000" cy="2015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1200"/>
              </a:spcAft>
              <a:buFont typeface="Arial" pitchFamily="34" charset="0"/>
              <a:buChar char="•"/>
              <a:defRPr sz="1700">
                <a:solidFill>
                  <a:srgbClr val="212121"/>
                </a:solidFill>
                <a:latin typeface="Calibri"/>
              </a:defRPr>
            </a:pPr>
            <a:r>
              <a:rPr dirty="0"/>
              <a:t>No ML models exist for the TOM2024 onion disease dataset</a:t>
            </a:r>
          </a:p>
          <a:p>
            <a:pPr marL="285750" indent="-285750">
              <a:spcAft>
                <a:spcPts val="1200"/>
              </a:spcAft>
              <a:buFont typeface="Arial" pitchFamily="34" charset="0"/>
              <a:buChar char="•"/>
              <a:defRPr sz="1700">
                <a:solidFill>
                  <a:srgbClr val="212121"/>
                </a:solidFill>
                <a:latin typeface="Calibri"/>
              </a:defRPr>
            </a:pPr>
            <a:r>
              <a:rPr dirty="0"/>
              <a:t>Limited access to agricultural extension officers in rural areas</a:t>
            </a:r>
          </a:p>
          <a:p>
            <a:pPr marL="285750" indent="-285750">
              <a:spcAft>
                <a:spcPts val="1200"/>
              </a:spcAft>
              <a:buFont typeface="Arial" pitchFamily="34" charset="0"/>
              <a:buChar char="•"/>
              <a:defRPr sz="1700">
                <a:solidFill>
                  <a:srgbClr val="212121"/>
                </a:solidFill>
                <a:latin typeface="Calibri"/>
              </a:defRPr>
            </a:pPr>
            <a:r>
              <a:rPr dirty="0"/>
              <a:t xml:space="preserve">Language barriers prevent farmers from accessing disease </a:t>
            </a:r>
            <a:r>
              <a:rPr dirty="0" smtClean="0"/>
              <a:t>info</a:t>
            </a:r>
            <a:r>
              <a:rPr lang="en-US" dirty="0" smtClean="0"/>
              <a:t>rmation</a:t>
            </a:r>
            <a:endParaRPr dirty="0"/>
          </a:p>
          <a:p>
            <a:pPr marL="285750" indent="-285750">
              <a:spcAft>
                <a:spcPts val="1200"/>
              </a:spcAft>
              <a:buFont typeface="Arial" pitchFamily="34" charset="0"/>
              <a:buChar char="•"/>
              <a:defRPr sz="1700">
                <a:solidFill>
                  <a:srgbClr val="212121"/>
                </a:solidFill>
                <a:latin typeface="Calibri"/>
              </a:defRPr>
            </a:pPr>
            <a:r>
              <a:rPr dirty="0"/>
              <a:t>No affordable diagnostic tools for smallholder farmers</a:t>
            </a:r>
          </a:p>
          <a:p>
            <a:pPr marL="285750" indent="-285750">
              <a:spcAft>
                <a:spcPts val="1200"/>
              </a:spcAft>
              <a:buFont typeface="Arial" pitchFamily="34" charset="0"/>
              <a:buChar char="•"/>
              <a:defRPr sz="1700">
                <a:solidFill>
                  <a:srgbClr val="212121"/>
                </a:solidFill>
                <a:latin typeface="Calibri"/>
              </a:defRPr>
            </a:pPr>
            <a:r>
              <a:rPr dirty="0"/>
              <a:t>No centralized system for tracking regional disease outbreaks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9120" y="5029200"/>
            <a:ext cx="6858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6464"/>
                </a:solidFill>
                <a:latin typeface="Calibri"/>
              </a:defRPr>
            </a:pPr>
            <a:r>
              <a:t>Source: Appiah et al., 2025 (Data in Brief, Elsevier)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-75414"/>
            <a:ext cx="12188952" cy="1097280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22860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— TOM2024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31520" y="77724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 smtClean="0">
                <a:solidFill>
                  <a:srgbClr val="C8F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Maize, Tomato </a:t>
            </a:r>
            <a:r>
              <a:rPr lang="en-US" sz="1400" dirty="0">
                <a:solidFill>
                  <a:srgbClr val="C8F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&amp; Onion </a:t>
            </a:r>
            <a:r>
              <a:rPr lang="en-US" sz="1400" dirty="0" smtClean="0">
                <a:solidFill>
                  <a:srgbClr val="C8F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Multi-class Data  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5029200" cy="5029200"/>
          </a:xfrm>
          <a:prstGeom prst="rect">
            <a:avLst/>
          </a:prstGeom>
          <a:solidFill>
            <a:srgbClr val="E3F2FD"/>
          </a:solidFill>
          <a:ln w="12700">
            <a:solidFill>
              <a:srgbClr val="E3F2F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69164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TOM2024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2286000"/>
            <a:ext cx="457200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Published in Data in Brief (Elsevier), 2025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Field-collected from farms in Burkina </a:t>
            </a:r>
            <a:r>
              <a:rPr lang="en-US" sz="1400" dirty="0" smtClean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Faso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Covers healthy crops, pests and diseases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Addresses the West-African ML data gap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public benchmark for onion classes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943600" y="1463040"/>
            <a:ext cx="5760720" cy="5029200"/>
          </a:xfrm>
          <a:prstGeom prst="rect">
            <a:avLst/>
          </a:prstGeom>
          <a:solidFill>
            <a:srgbClr val="E8F5E9"/>
          </a:solidFill>
          <a:ln w="12700">
            <a:solidFill>
              <a:srgbClr val="E8F5E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17920" y="1691640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Onion Subset — what we used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6217920" y="2286000"/>
            <a:ext cx="52120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classes: 1 healthy + 4 diseases + 1 pest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3,044 onion images across all classes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Resized from variable sizes to 224x224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Imbalanced: Caterpillar 879 vs Bulb_Blight 30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weights + 3-stage fine-tuning</a:t>
            </a:r>
            <a:endParaRPr lang="en-US" sz="1400" dirty="0"/>
          </a:p>
        </p:txBody>
      </p:sp>
      <p:pic>
        <p:nvPicPr>
          <p:cNvPr id="11" name="Image 0" descr="/home/claude/work/dataset-chart.png"/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6217920" y="4572000"/>
            <a:ext cx="539496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22860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</a:rPr>
              <a:t xml:space="preserve">Onion Classes </a:t>
            </a:r>
          </a:p>
        </p:txBody>
      </p:sp>
      <p:sp>
        <p:nvSpPr>
          <p:cNvPr id="4" name="Text 2"/>
          <p:cNvSpPr/>
          <p:nvPr/>
        </p:nvSpPr>
        <p:spPr>
          <a:xfrm>
            <a:off x="731520" y="77724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8FFC8"/>
                </a:solidFill>
                <a:latin typeface="Calibri" pitchFamily="34" charset="0"/>
              </a:rPr>
              <a:t xml:space="preserve">Six classes the model learns to distinguish </a:t>
            </a:r>
          </a:p>
        </p:txBody>
      </p:sp>
      <p:sp>
        <p:nvSpPr>
          <p:cNvPr id="10" name="LabelHealthy"/>
          <p:cNvSpPr/>
          <p:nvPr/>
        </p:nvSpPr>
        <p:spPr>
          <a:xfrm>
            <a:off x="182880" y="1143000"/>
            <a:ext cx="36576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E7D32"/>
                </a:solidFill>
                <a:latin typeface="Calibri" pitchFamily="34" charset="0"/>
              </a:rPr>
              <a:t>Healthy</a:t>
            </a:r>
          </a:p>
        </p:txBody>
      </p:sp>
      <p:pic>
        <p:nvPicPr>
          <p:cNvPr id="11" name="ImgHealthy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485900"/>
            <a:ext cx="3657600" cy="2400300"/>
          </a:xfrm>
          <a:prstGeom prst="rect">
            <a:avLst/>
          </a:prstGeom>
        </p:spPr>
      </p:pic>
      <p:sp>
        <p:nvSpPr>
          <p:cNvPr id="12" name="LabelVirosis"/>
          <p:cNvSpPr/>
          <p:nvPr/>
        </p:nvSpPr>
        <p:spPr>
          <a:xfrm>
            <a:off x="182880" y="3972600"/>
            <a:ext cx="36576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E7D32"/>
                </a:solidFill>
                <a:latin typeface="Calibri" pitchFamily="34" charset="0"/>
              </a:rPr>
              <a:t>Virosis</a:t>
            </a:r>
          </a:p>
        </p:txBody>
      </p:sp>
      <p:pic>
        <p:nvPicPr>
          <p:cNvPr id="13" name="ImgVirosi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" y="4315500"/>
            <a:ext cx="3657600" cy="2400300"/>
          </a:xfrm>
          <a:prstGeom prst="rect">
            <a:avLst/>
          </a:prstGeom>
        </p:spPr>
      </p:pic>
      <p:sp>
        <p:nvSpPr>
          <p:cNvPr id="20" name="LabelAlternaria"/>
          <p:cNvSpPr/>
          <p:nvPr/>
        </p:nvSpPr>
        <p:spPr>
          <a:xfrm>
            <a:off x="4267200" y="1143000"/>
            <a:ext cx="36576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E7D32"/>
                </a:solidFill>
                <a:latin typeface="Calibri" pitchFamily="34" charset="0"/>
              </a:rPr>
              <a:t>Alternaria</a:t>
            </a:r>
          </a:p>
        </p:txBody>
      </p:sp>
      <p:pic>
        <p:nvPicPr>
          <p:cNvPr id="21" name="ImgAlternaria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67200" y="1485900"/>
            <a:ext cx="3657600" cy="2400300"/>
          </a:xfrm>
          <a:prstGeom prst="rect">
            <a:avLst/>
          </a:prstGeom>
        </p:spPr>
      </p:pic>
      <p:sp>
        <p:nvSpPr>
          <p:cNvPr id="22" name="LabelBulbBlight"/>
          <p:cNvSpPr/>
          <p:nvPr/>
        </p:nvSpPr>
        <p:spPr>
          <a:xfrm>
            <a:off x="4267200" y="3972600"/>
            <a:ext cx="36576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E7D32"/>
                </a:solidFill>
                <a:latin typeface="Calibri" pitchFamily="34" charset="0"/>
              </a:rPr>
              <a:t>Bulb Blight</a:t>
            </a:r>
          </a:p>
        </p:txBody>
      </p:sp>
      <p:pic>
        <p:nvPicPr>
          <p:cNvPr id="23" name="ImgBulbBligh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67200" y="4315500"/>
            <a:ext cx="3657600" cy="2400300"/>
          </a:xfrm>
          <a:prstGeom prst="rect">
            <a:avLst/>
          </a:prstGeom>
        </p:spPr>
      </p:pic>
      <p:sp>
        <p:nvSpPr>
          <p:cNvPr id="30" name="LabelCaterpillar"/>
          <p:cNvSpPr/>
          <p:nvPr/>
        </p:nvSpPr>
        <p:spPr>
          <a:xfrm>
            <a:off x="8351520" y="1143000"/>
            <a:ext cx="36576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E7D32"/>
                </a:solidFill>
                <a:latin typeface="Calibri" pitchFamily="34" charset="0"/>
              </a:rPr>
              <a:t>Caterpillar</a:t>
            </a:r>
          </a:p>
        </p:txBody>
      </p:sp>
      <p:pic>
        <p:nvPicPr>
          <p:cNvPr id="31" name="ImgCaterpillar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51520" y="1485900"/>
            <a:ext cx="3657600" cy="2400300"/>
          </a:xfrm>
          <a:prstGeom prst="rect">
            <a:avLst/>
          </a:prstGeom>
        </p:spPr>
      </p:pic>
      <p:sp>
        <p:nvSpPr>
          <p:cNvPr id="32" name="LabelFusarium"/>
          <p:cNvSpPr/>
          <p:nvPr/>
        </p:nvSpPr>
        <p:spPr>
          <a:xfrm>
            <a:off x="8351520" y="3972600"/>
            <a:ext cx="36576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E7D32"/>
                </a:solidFill>
                <a:latin typeface="Calibri" pitchFamily="34" charset="0"/>
              </a:rPr>
              <a:t>Fusarium</a:t>
            </a:r>
          </a:p>
        </p:txBody>
      </p:sp>
      <p:pic>
        <p:nvPicPr>
          <p:cNvPr id="33" name="ImgFusarium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51520" y="4315500"/>
            <a:ext cx="3657600" cy="24003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-37708"/>
            <a:ext cx="12191695" cy="109728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90893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Our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8FFC8"/>
                </a:solidFill>
                <a:latin typeface="Calibri"/>
              </a:defRPr>
            </a:pPr>
            <a:r>
              <a:t>OnionGuard mobile application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645920"/>
            <a:ext cx="2651760" cy="3200400"/>
          </a:xfrm>
          <a:prstGeom prst="rect">
            <a:avLst/>
          </a:prstGeom>
          <a:solidFill>
            <a:srgbClr val="E8F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192024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E7D32"/>
                </a:solidFill>
                <a:latin typeface="Calibri"/>
              </a:defRPr>
            </a:pPr>
            <a:r>
              <a:t>Disease Detection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2468880"/>
            <a:ext cx="1371600" cy="254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2651760"/>
            <a:ext cx="2103120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46464"/>
                </a:solidFill>
                <a:latin typeface="Calibri"/>
              </a:defRPr>
            </a:pPr>
            <a:r>
              <a:rPr dirty="0"/>
              <a:t xml:space="preserve">On-device AI classifies 6 </a:t>
            </a:r>
            <a:r>
              <a:rPr dirty="0" smtClean="0"/>
              <a:t>onion</a:t>
            </a:r>
            <a:r>
              <a:rPr lang="en-US" dirty="0" smtClean="0"/>
              <a:t xml:space="preserve"> </a:t>
            </a:r>
            <a:r>
              <a:rPr dirty="0" smtClean="0"/>
              <a:t xml:space="preserve">conditions </a:t>
            </a:r>
            <a:r>
              <a:rPr dirty="0"/>
              <a:t>from camera photos</a:t>
            </a:r>
            <a:r>
              <a:rPr dirty="0" smtClean="0"/>
              <a:t>.</a:t>
            </a:r>
            <a:endParaRPr lang="en-US" dirty="0" smtClean="0"/>
          </a:p>
          <a:p>
            <a:pPr algn="l">
              <a:defRPr sz="1400" b="0">
                <a:solidFill>
                  <a:srgbClr val="646464"/>
                </a:solidFill>
                <a:latin typeface="Calibri"/>
              </a:defRPr>
            </a:pPr>
            <a:r>
              <a:rPr dirty="0"/>
              <a:t/>
            </a:r>
            <a:br>
              <a:rPr dirty="0"/>
            </a:br>
            <a:endParaRPr dirty="0"/>
          </a:p>
        </p:txBody>
      </p:sp>
      <p:sp>
        <p:nvSpPr>
          <p:cNvPr id="9" name="Rectangle 8"/>
          <p:cNvSpPr/>
          <p:nvPr/>
        </p:nvSpPr>
        <p:spPr>
          <a:xfrm>
            <a:off x="3337560" y="1645920"/>
            <a:ext cx="2651760" cy="3200400"/>
          </a:xfrm>
          <a:prstGeom prst="rect">
            <a:avLst/>
          </a:prstGeom>
          <a:solidFill>
            <a:srgbClr val="E3F2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611880" y="192024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E7D32"/>
                </a:solidFill>
                <a:latin typeface="Calibri"/>
              </a:defRPr>
            </a:pPr>
            <a:r>
              <a:t>Freshness Check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11880" y="2468880"/>
            <a:ext cx="1371600" cy="254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611880" y="2651760"/>
            <a:ext cx="210312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46464"/>
                </a:solidFill>
                <a:latin typeface="Calibri"/>
              </a:defRPr>
            </a:pPr>
            <a:r>
              <a:rPr dirty="0"/>
              <a:t>Gemini Vision AI evaluates</a:t>
            </a:r>
            <a:br>
              <a:rPr dirty="0"/>
            </a:br>
            <a:r>
              <a:rPr dirty="0"/>
              <a:t xml:space="preserve">onion </a:t>
            </a:r>
            <a:r>
              <a:rPr dirty="0" smtClean="0"/>
              <a:t>freshness</a:t>
            </a:r>
            <a:endParaRPr dirty="0"/>
          </a:p>
        </p:txBody>
      </p:sp>
      <p:sp>
        <p:nvSpPr>
          <p:cNvPr id="13" name="Rectangle 12"/>
          <p:cNvSpPr/>
          <p:nvPr/>
        </p:nvSpPr>
        <p:spPr>
          <a:xfrm>
            <a:off x="6217920" y="1645920"/>
            <a:ext cx="2651760" cy="3200400"/>
          </a:xfrm>
          <a:prstGeom prst="rect">
            <a:avLst/>
          </a:prstGeom>
          <a:solidFill>
            <a:srgbClr val="FFF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92240" y="192024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E7D32"/>
                </a:solidFill>
                <a:latin typeface="Calibri"/>
              </a:defRPr>
            </a:pPr>
            <a:r>
              <a:rPr dirty="0"/>
              <a:t>Treatment Guides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92240" y="2468880"/>
            <a:ext cx="1371600" cy="254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92240" y="2651760"/>
            <a:ext cx="210312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46464"/>
                </a:solidFill>
                <a:latin typeface="Calibri"/>
              </a:defRPr>
            </a:pPr>
            <a:r>
              <a:rPr dirty="0"/>
              <a:t xml:space="preserve">Detailed treatment in 5 </a:t>
            </a:r>
            <a:r>
              <a:rPr dirty="0" smtClean="0"/>
              <a:t>languages</a:t>
            </a:r>
            <a:r>
              <a:rPr lang="en-US" dirty="0" smtClean="0"/>
              <a:t xml:space="preserve"> </a:t>
            </a:r>
            <a:r>
              <a:rPr dirty="0" smtClean="0"/>
              <a:t xml:space="preserve">with </a:t>
            </a:r>
            <a:r>
              <a:rPr dirty="0"/>
              <a:t xml:space="preserve">voice playback </a:t>
            </a:r>
            <a:r>
              <a:rPr dirty="0" smtClean="0"/>
              <a:t>for</a:t>
            </a:r>
            <a:r>
              <a:rPr lang="en-US" dirty="0" smtClean="0"/>
              <a:t xml:space="preserve"> </a:t>
            </a:r>
            <a:r>
              <a:rPr dirty="0" smtClean="0"/>
              <a:t xml:space="preserve">low-literacy </a:t>
            </a:r>
            <a:r>
              <a:rPr dirty="0"/>
              <a:t>farmers.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098280" y="1645920"/>
            <a:ext cx="2651760" cy="3200400"/>
          </a:xfrm>
          <a:prstGeom prst="rect">
            <a:avLst/>
          </a:prstGeom>
          <a:solidFill>
            <a:srgbClr val="F3E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372600" y="192024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E7D32"/>
                </a:solidFill>
                <a:latin typeface="Calibri"/>
              </a:defRPr>
            </a:pPr>
            <a:r>
              <a:t>Analytics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372600" y="2468880"/>
            <a:ext cx="1371600" cy="254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372600" y="2651760"/>
            <a:ext cx="210312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46464"/>
                </a:solidFill>
                <a:latin typeface="Calibri"/>
              </a:defRPr>
            </a:pPr>
            <a:r>
              <a:rPr dirty="0"/>
              <a:t xml:space="preserve">Personal &amp; regional </a:t>
            </a:r>
            <a:r>
              <a:rPr dirty="0" smtClean="0"/>
              <a:t>disease</a:t>
            </a:r>
            <a:r>
              <a:rPr lang="en-US" dirty="0" smtClean="0"/>
              <a:t xml:space="preserve">  </a:t>
            </a:r>
            <a:r>
              <a:rPr dirty="0" smtClean="0"/>
              <a:t xml:space="preserve">tracking </a:t>
            </a:r>
            <a:r>
              <a:rPr dirty="0"/>
              <a:t>dashboards for</a:t>
            </a:r>
            <a:br>
              <a:rPr dirty="0"/>
            </a:br>
            <a:r>
              <a:rPr dirty="0"/>
              <a:t>farmers and officers.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5303520"/>
            <a:ext cx="11247120" cy="91440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14400" y="53949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2E7D32"/>
                </a:solidFill>
                <a:latin typeface="Calibri"/>
              </a:defRPr>
            </a:pPr>
            <a:r>
              <a:rPr dirty="0"/>
              <a:t>Security:  JWT Auth  +  Bcrypt  +  Biometric Login  +  HTTPS (TLS 1.2/1.3)  +  Let's Encrypt SSL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Bar"/>
          <p:cNvSpPr>
            <a:spLocks noGrp="1"/>
          </p:cNvSpPr>
          <p:nvPr/>
        </p:nvSpPr>
        <p:spPr>
          <a:xfrm>
            <a:off x="0" y="0"/>
            <a:ext cx="12192000" cy="1097280"/>
          </a:xfrm>
          <a:prstGeom prst="rect">
            <a:avLst/>
          </a:prstGeom>
          <a:solidFill>
            <a:srgbClr val="4CAF50"/>
          </a:solidFill>
        </p:spPr>
        <p:txBody>
          <a:bodyPr/>
          <a:lstStyle/>
          <a:p>
            <a:pPr>
              <a:defRPr sz="3600" b="1">
                <a:solidFill>
                  <a:srgbClr val="FFFFFF"/>
                </a:solidFill>
                <a:latin typeface="Calibri"/>
              </a:defRPr>
            </a:pPr>
            <a:r>
              <a:rPr dirty="0"/>
              <a:t>Machine Learning Model</a:t>
            </a:r>
          </a:p>
          <a:p>
            <a:pPr>
              <a:defRPr sz="1800">
                <a:solidFill>
                  <a:srgbClr val="E8F5E9"/>
                </a:solidFill>
                <a:latin typeface="Calibri"/>
              </a:defRPr>
            </a:pPr>
            <a:r>
              <a:rPr dirty="0"/>
              <a:t>MobileNetV3-Large trained on TOM2024 dataset</a:t>
            </a:r>
          </a:p>
        </p:txBody>
      </p:sp>
      <p:sp>
        <p:nvSpPr>
          <p:cNvPr id="3" name="Point1"/>
          <p:cNvSpPr txBox="1"/>
          <p:nvPr/>
        </p:nvSpPr>
        <p:spPr>
          <a:xfrm>
            <a:off x="0" y="1151076"/>
            <a:ext cx="4392890" cy="4300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defRPr sz="1600">
                <a:solidFill>
                  <a:srgbClr val="212121"/>
                </a:solidFill>
                <a:latin typeface="Calibri"/>
              </a:defRPr>
            </a:pPr>
            <a:r>
              <a:rPr b="1" dirty="0">
                <a:solidFill>
                  <a:srgbClr val="2E7D32"/>
                </a:solidFill>
                <a:latin typeface="Calibri"/>
              </a:rPr>
              <a:t xml:space="preserve">Base: </a:t>
            </a:r>
            <a:r>
              <a:rPr dirty="0">
                <a:latin typeface="Calibri"/>
              </a:rPr>
              <a:t>MobileNetV3-Large (ImageNet pretrained)</a:t>
            </a:r>
          </a:p>
        </p:txBody>
      </p:sp>
      <p:sp>
        <p:nvSpPr>
          <p:cNvPr id="4" name="Point2"/>
          <p:cNvSpPr txBox="1"/>
          <p:nvPr/>
        </p:nvSpPr>
        <p:spPr>
          <a:xfrm>
            <a:off x="4499203" y="1151076"/>
            <a:ext cx="4164029" cy="4300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defRPr sz="1600">
                <a:solidFill>
                  <a:srgbClr val="212121"/>
                </a:solidFill>
                <a:latin typeface="Calibri"/>
              </a:defRPr>
            </a:pPr>
            <a:r>
              <a:rPr b="1" dirty="0">
                <a:solidFill>
                  <a:srgbClr val="2E7D32"/>
                </a:solidFill>
                <a:latin typeface="Calibri"/>
              </a:rPr>
              <a:t xml:space="preserve">Quantization: </a:t>
            </a:r>
            <a:r>
              <a:rPr dirty="0">
                <a:latin typeface="Calibri"/>
              </a:rPr>
              <a:t>Float16 for mobile deployment</a:t>
            </a:r>
          </a:p>
        </p:txBody>
      </p:sp>
      <p:sp>
        <p:nvSpPr>
          <p:cNvPr id="5" name="Point3"/>
          <p:cNvSpPr txBox="1"/>
          <p:nvPr/>
        </p:nvSpPr>
        <p:spPr>
          <a:xfrm>
            <a:off x="8432800" y="1137512"/>
            <a:ext cx="3759200" cy="4300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defRPr sz="1600">
                <a:solidFill>
                  <a:srgbClr val="212121"/>
                </a:solidFill>
                <a:latin typeface="Calibri"/>
              </a:defRPr>
            </a:pPr>
            <a:r>
              <a:rPr b="1" dirty="0">
                <a:solidFill>
                  <a:srgbClr val="2E7D32"/>
                </a:solidFill>
                <a:latin typeface="Calibri"/>
              </a:rPr>
              <a:t xml:space="preserve">Size: </a:t>
            </a:r>
            <a:r>
              <a:rPr dirty="0">
                <a:latin typeface="Calibri"/>
              </a:rPr>
              <a:t>5.72 MB (TFLite)</a:t>
            </a:r>
          </a:p>
        </p:txBody>
      </p:sp>
      <p:pic>
        <p:nvPicPr>
          <p:cNvPr id="10" name="ImgTechniques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197027" y="1700000"/>
            <a:ext cx="5810146" cy="2712622"/>
          </a:xfrm>
          <a:prstGeom prst="rect">
            <a:avLst/>
          </a:prstGeom>
        </p:spPr>
      </p:pic>
      <p:pic>
        <p:nvPicPr>
          <p:cNvPr id="11" name="ImgResults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1197027" y="4641222"/>
            <a:ext cx="5810146" cy="2116777"/>
          </a:xfrm>
          <a:prstGeom prst="rect">
            <a:avLst/>
          </a:prstGeom>
        </p:spPr>
      </p:pic>
      <p:pic>
        <p:nvPicPr>
          <p:cNvPr id="12" name="ImgConfusion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7079530" y="1700000"/>
            <a:ext cx="4961641" cy="5057999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Model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8FFC8"/>
                </a:solidFill>
                <a:latin typeface="Calibri"/>
              </a:defRPr>
            </a:pPr>
            <a:r>
              <a:t>Evaluation on held-out test set (304 images)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463040"/>
            <a:ext cx="3200400" cy="228600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645920"/>
            <a:ext cx="274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600" b="1">
                <a:solidFill>
                  <a:srgbClr val="2E7D32"/>
                </a:solidFill>
                <a:latin typeface="Calibri"/>
              </a:defRPr>
            </a:pPr>
            <a:r>
              <a:t>93.75%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65176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212121"/>
                </a:solidFill>
                <a:latin typeface="Calibri"/>
              </a:defRPr>
            </a:pPr>
            <a:r>
              <a:t>Overall Test Accuracy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1089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646464"/>
                </a:solidFill>
                <a:latin typeface="Calibri"/>
              </a:defRPr>
            </a:pPr>
            <a:r>
              <a:rPr dirty="0"/>
              <a:t>TFLite: 93.75%  |  Size: 5.72 MB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0" y="13716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E7D32"/>
                </a:solidFill>
                <a:latin typeface="Calibri"/>
              </a:defRPr>
            </a:pPr>
            <a:r>
              <a:t>Classification Report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4114800" y="1828800"/>
          <a:ext cx="731520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Class</a:t>
                      </a:r>
                    </a:p>
                  </a:txBody>
                  <a:tcPr>
                    <a:solidFill>
                      <a:srgbClr val="4CAF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Precision</a:t>
                      </a:r>
                    </a:p>
                  </a:txBody>
                  <a:tcPr>
                    <a:solidFill>
                      <a:srgbClr val="4CAF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Recall</a:t>
                      </a:r>
                    </a:p>
                  </a:txBody>
                  <a:tcPr>
                    <a:solidFill>
                      <a:srgbClr val="4CAF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F1-Score</a:t>
                      </a:r>
                    </a:p>
                  </a:txBody>
                  <a:tcPr>
                    <a:solidFill>
                      <a:srgbClr val="4CAF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Accuracy</a:t>
                      </a:r>
                    </a:p>
                  </a:txBody>
                  <a:tcPr>
                    <a:solidFill>
                      <a:srgbClr val="4CAF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latin typeface="Calibri"/>
                        </a:defRPr>
                      </a:pPr>
                      <a:r>
                        <a:rPr dirty="0"/>
                        <a:t>Alternaria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Calibri"/>
                        </a:defRPr>
                      </a:pPr>
                      <a:r>
                        <a:t>0.766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Calibri"/>
                        </a:defRPr>
                      </a:pPr>
                      <a:r>
                        <a:t>0.878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Calibri"/>
                        </a:defRPr>
                      </a:pPr>
                      <a:r>
                        <a:t>0.818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Calibri"/>
                        </a:defRPr>
                      </a:pPr>
                      <a:r>
                        <a:t>87.80%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latin typeface="Calibri"/>
                        </a:defRPr>
                      </a:pPr>
                      <a:r>
                        <a:t>Bulb Blight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Calibri"/>
                        </a:defRPr>
                      </a:pPr>
                      <a:r>
                        <a:t>1.000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Calibri"/>
                        </a:defRPr>
                      </a:pPr>
                      <a:r>
                        <a:t>1.000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Calibri"/>
                        </a:defRPr>
                      </a:pPr>
                      <a:r>
                        <a:t>1.000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Calibri"/>
                        </a:defRPr>
                      </a:pPr>
                      <a:r>
                        <a:t>100.00%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latin typeface="Calibri"/>
                        </a:defRPr>
                      </a:pPr>
                      <a:r>
                        <a:t>Caterpillar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Calibri"/>
                        </a:defRPr>
                      </a:pPr>
                      <a:r>
                        <a:t>1.000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Calibri"/>
                        </a:defRPr>
                      </a:pPr>
                      <a:r>
                        <a:t>0.987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Calibri"/>
                        </a:defRPr>
                      </a:pPr>
                      <a:r>
                        <a:t>0.994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Calibri"/>
                        </a:defRPr>
                      </a:pPr>
                      <a:r>
                        <a:t>98.73%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latin typeface="Calibri"/>
                        </a:defRPr>
                      </a:pPr>
                      <a:r>
                        <a:rPr dirty="0"/>
                        <a:t>Fusarium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Calibri"/>
                        </a:defRPr>
                      </a:pPr>
                      <a:r>
                        <a:t>0.958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Calibri"/>
                        </a:defRPr>
                      </a:pPr>
                      <a:r>
                        <a:t>0.840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Calibri"/>
                        </a:defRPr>
                      </a:pPr>
                      <a:r>
                        <a:t>0.895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Calibri"/>
                        </a:defRPr>
                      </a:pPr>
                      <a:r>
                        <a:t>83.95%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latin typeface="Calibri"/>
                        </a:defRPr>
                      </a:pPr>
                      <a:r>
                        <a:t>Healthy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Calibri"/>
                        </a:defRPr>
                      </a:pPr>
                      <a:r>
                        <a:t>0.945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Calibri"/>
                        </a:defRPr>
                      </a:pPr>
                      <a:r>
                        <a:t>1.000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Calibri"/>
                        </a:defRPr>
                      </a:pPr>
                      <a:r>
                        <a:t>0.972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Calibri"/>
                        </a:defRPr>
                      </a:pPr>
                      <a:r>
                        <a:t>100.00%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latin typeface="Calibri"/>
                        </a:defRPr>
                      </a:pPr>
                      <a:r>
                        <a:rPr dirty="0"/>
                        <a:t>Virosis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Calibri"/>
                        </a:defRPr>
                      </a:pPr>
                      <a:r>
                        <a:t>0.970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Calibri"/>
                        </a:defRPr>
                      </a:pPr>
                      <a:r>
                        <a:t>1.000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Calibri"/>
                        </a:defRPr>
                      </a:pPr>
                      <a:r>
                        <a:t>0.985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Calibri"/>
                        </a:defRPr>
                      </a:pPr>
                      <a:r>
                        <a:t>100.00%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200" b="1">
                          <a:latin typeface="Calibri"/>
                        </a:defRPr>
                      </a:pPr>
                      <a:r>
                        <a:t>Macro Avg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latin typeface="Calibri"/>
                        </a:defRPr>
                      </a:pPr>
                      <a:r>
                        <a:t>0.940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latin typeface="Calibri"/>
                        </a:defRPr>
                      </a:pPr>
                      <a:r>
                        <a:t>0.951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latin typeface="Calibri"/>
                        </a:defRPr>
                      </a:pPr>
                      <a:r>
                        <a:t>0.944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latin typeface="Calibri"/>
                        </a:defRPr>
                      </a:pPr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431338" y="4508269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E7D32"/>
                </a:solidFill>
                <a:latin typeface="Calibri"/>
              </a:defRPr>
            </a:pPr>
            <a:r>
              <a:rPr dirty="0"/>
              <a:t>Key Insights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4836" y="4965469"/>
            <a:ext cx="10972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600"/>
              </a:spcAft>
              <a:buFont typeface="Arial" pitchFamily="34" charset="0"/>
              <a:buChar char="•"/>
              <a:defRPr sz="1400">
                <a:solidFill>
                  <a:srgbClr val="212121"/>
                </a:solidFill>
                <a:latin typeface="Calibri"/>
              </a:defRPr>
            </a:pPr>
            <a:r>
              <a:rPr dirty="0"/>
              <a:t>Caterpillar, Healthy, Virosis &amp; Bulb Blight achieve 98-100% accuracy</a:t>
            </a:r>
          </a:p>
          <a:p>
            <a:pPr marL="285750" indent="-285750">
              <a:spcAft>
                <a:spcPts val="600"/>
              </a:spcAft>
              <a:buFont typeface="Arial" pitchFamily="34" charset="0"/>
              <a:buChar char="•"/>
              <a:defRPr sz="1400">
                <a:solidFill>
                  <a:srgbClr val="212121"/>
                </a:solidFill>
                <a:latin typeface="Calibri"/>
              </a:defRPr>
            </a:pPr>
            <a:r>
              <a:rPr dirty="0"/>
              <a:t>Fusarium (83.95%) shows lowest accuracy due to visual similarity with Alternaria</a:t>
            </a:r>
          </a:p>
          <a:p>
            <a:pPr marL="285750" indent="-285750">
              <a:spcAft>
                <a:spcPts val="600"/>
              </a:spcAft>
              <a:buFont typeface="Arial" pitchFamily="34" charset="0"/>
              <a:buChar char="•"/>
              <a:defRPr sz="1400">
                <a:solidFill>
                  <a:srgbClr val="212121"/>
                </a:solidFill>
                <a:latin typeface="Calibri"/>
              </a:defRPr>
            </a:pPr>
            <a:r>
              <a:rPr dirty="0"/>
              <a:t>Class weights handle imbalance effectively (879 Caterpillar vs 30 Bulb Blight)</a:t>
            </a:r>
          </a:p>
          <a:p>
            <a:pPr marL="285750" indent="-285750">
              <a:spcAft>
                <a:spcPts val="600"/>
              </a:spcAft>
              <a:buFont typeface="Arial" pitchFamily="34" charset="0"/>
              <a:buChar char="•"/>
              <a:defRPr sz="1400">
                <a:solidFill>
                  <a:srgbClr val="212121"/>
                </a:solidFill>
                <a:latin typeface="Calibri"/>
              </a:defRPr>
            </a:pPr>
            <a:r>
              <a:rPr dirty="0"/>
              <a:t>TFLite quantization maintains full accuracy with 5.72 MB model size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itle"/>
          <p:cNvSpPr txBox="1"/>
          <p:nvPr/>
        </p:nvSpPr>
        <p:spPr>
          <a:xfrm>
            <a:off x="731520" y="1574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Mobile Application (1/3)</a:t>
            </a:r>
          </a:p>
        </p:txBody>
      </p:sp>
      <p:sp>
        <p:nvSpPr>
          <p:cNvPr id="4" name="Sub"/>
          <p:cNvSpPr txBox="1"/>
          <p:nvPr/>
        </p:nvSpPr>
        <p:spPr>
          <a:xfrm>
            <a:off x="731520" y="713232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>
                <a:solidFill>
                  <a:srgbClr val="FFFFFF"/>
                </a:solidFill>
                <a:latin typeface="Calibri"/>
              </a:defRPr>
            </a:pPr>
            <a:r>
              <a:t>Fingerprint Login  |  Home Screen  |  9 Languages</a:t>
            </a:r>
          </a:p>
        </p:txBody>
      </p:sp>
      <p:sp>
        <p:nvSpPr>
          <p:cNvPr id="5" name="Card5"/>
          <p:cNvSpPr/>
          <p:nvPr/>
        </p:nvSpPr>
        <p:spPr>
          <a:xfrm>
            <a:off x="521207" y="1280160"/>
            <a:ext cx="3383280" cy="5486400"/>
          </a:xfrm>
          <a:prstGeom prst="roundRect">
            <a:avLst>
              <a:gd name="adj" fmla="val 20000"/>
            </a:avLst>
          </a:prstGeom>
          <a:solidFill>
            <a:srgbClr val="E8F5E9"/>
          </a:solidFill>
          <a:ln>
            <a:noFill/>
          </a:ln>
        </p:spPr>
        <p:txBody>
          <a:bodyPr/>
          <a:lstStyle/>
          <a:p>
            <a:endParaRPr/>
          </a:p>
        </p:txBody>
      </p:sp>
      <p:pic>
        <p:nvPicPr>
          <p:cNvPr id="6" name="Pic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7" y="1165860"/>
            <a:ext cx="2743200" cy="5029200"/>
          </a:xfrm>
          <a:prstGeom prst="rect">
            <a:avLst/>
          </a:prstGeom>
        </p:spPr>
      </p:pic>
      <p:sp>
        <p:nvSpPr>
          <p:cNvPr id="7" name="Lbl7"/>
          <p:cNvSpPr txBox="1"/>
          <p:nvPr/>
        </p:nvSpPr>
        <p:spPr>
          <a:xfrm>
            <a:off x="521207" y="6263640"/>
            <a:ext cx="338328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2E7D32"/>
                </a:solidFill>
                <a:latin typeface="Calibri"/>
              </a:defRPr>
            </a:pPr>
            <a:r>
              <a:t>Fingerprint Login</a:t>
            </a:r>
          </a:p>
        </p:txBody>
      </p:sp>
      <p:sp>
        <p:nvSpPr>
          <p:cNvPr id="8" name="Card8"/>
          <p:cNvSpPr/>
          <p:nvPr/>
        </p:nvSpPr>
        <p:spPr>
          <a:xfrm>
            <a:off x="4407407" y="1280160"/>
            <a:ext cx="3383280" cy="5486400"/>
          </a:xfrm>
          <a:prstGeom prst="roundRect">
            <a:avLst>
              <a:gd name="adj" fmla="val 20000"/>
            </a:avLst>
          </a:prstGeom>
          <a:solidFill>
            <a:srgbClr val="E8F5E9"/>
          </a:solidFill>
          <a:ln>
            <a:noFill/>
          </a:ln>
        </p:spPr>
        <p:txBody>
          <a:bodyPr/>
          <a:lstStyle/>
          <a:p>
            <a:endParaRPr/>
          </a:p>
        </p:txBody>
      </p:sp>
      <p:pic>
        <p:nvPicPr>
          <p:cNvPr id="9" name="Pic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27447" y="1165860"/>
            <a:ext cx="2743200" cy="5029200"/>
          </a:xfrm>
          <a:prstGeom prst="rect">
            <a:avLst/>
          </a:prstGeom>
        </p:spPr>
      </p:pic>
      <p:sp>
        <p:nvSpPr>
          <p:cNvPr id="10" name="Lbl10"/>
          <p:cNvSpPr txBox="1"/>
          <p:nvPr/>
        </p:nvSpPr>
        <p:spPr>
          <a:xfrm>
            <a:off x="4407407" y="6263640"/>
            <a:ext cx="338328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2E7D32"/>
                </a:solidFill>
                <a:latin typeface="Calibri"/>
              </a:defRPr>
            </a:pPr>
            <a:r>
              <a:t>Home Screen</a:t>
            </a:r>
          </a:p>
        </p:txBody>
      </p:sp>
      <p:sp>
        <p:nvSpPr>
          <p:cNvPr id="11" name="Card11"/>
          <p:cNvSpPr/>
          <p:nvPr/>
        </p:nvSpPr>
        <p:spPr>
          <a:xfrm>
            <a:off x="8293607" y="1280160"/>
            <a:ext cx="3383280" cy="5486400"/>
          </a:xfrm>
          <a:prstGeom prst="roundRect">
            <a:avLst>
              <a:gd name="adj" fmla="val 20000"/>
            </a:avLst>
          </a:prstGeom>
          <a:solidFill>
            <a:srgbClr val="E8F5E9"/>
          </a:solidFill>
          <a:ln>
            <a:noFill/>
          </a:ln>
        </p:spPr>
        <p:txBody>
          <a:bodyPr/>
          <a:lstStyle/>
          <a:p>
            <a:endParaRPr/>
          </a:p>
        </p:txBody>
      </p:sp>
      <p:pic>
        <p:nvPicPr>
          <p:cNvPr id="12" name="Pic1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05087" y="1165860"/>
            <a:ext cx="2743200" cy="5029200"/>
          </a:xfrm>
          <a:prstGeom prst="rect">
            <a:avLst/>
          </a:prstGeom>
        </p:spPr>
      </p:pic>
      <p:sp>
        <p:nvSpPr>
          <p:cNvPr id="13" name="Lbl13"/>
          <p:cNvSpPr txBox="1"/>
          <p:nvPr/>
        </p:nvSpPr>
        <p:spPr>
          <a:xfrm>
            <a:off x="8293607" y="6263640"/>
            <a:ext cx="338328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2E7D32"/>
                </a:solidFill>
                <a:latin typeface="Calibri"/>
              </a:defRPr>
            </a:pPr>
            <a:r>
              <a:t>9 Languages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574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Mobile Application (2/3)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13232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>
                <a:solidFill>
                  <a:srgbClr val="FFFFFF"/>
                </a:solidFill>
                <a:latin typeface="Calibri"/>
              </a:defRPr>
            </a:pPr>
            <a:r>
              <a:t>Disease Detection  |  Farm Analytics  |  Talk To Us</a:t>
            </a:r>
          </a:p>
        </p:txBody>
      </p:sp>
      <p:sp>
        <p:nvSpPr>
          <p:cNvPr id="5" name="Rounded Rectangle 5"/>
          <p:cNvSpPr/>
          <p:nvPr/>
        </p:nvSpPr>
        <p:spPr>
          <a:xfrm>
            <a:off x="521207" y="1280160"/>
            <a:ext cx="3383280" cy="5486400"/>
          </a:xfrm>
          <a:prstGeom prst="roundRect">
            <a:avLst>
              <a:gd name="adj" fmla="val 20000"/>
            </a:avLst>
          </a:prstGeom>
          <a:solidFill>
            <a:srgbClr val="E8F5E9"/>
          </a:solidFill>
          <a:ln>
            <a:noFill/>
          </a:ln>
        </p:spPr>
        <p:txBody>
          <a:bodyPr/>
          <a:lstStyle/>
          <a:p>
            <a:endParaRPr/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7" y="1165860"/>
            <a:ext cx="2743200" cy="5029200"/>
          </a:xfrm>
          <a:prstGeom prst="rect">
            <a:avLst/>
          </a:prstGeom>
        </p:spPr>
      </p:pic>
      <p:sp>
        <p:nvSpPr>
          <p:cNvPr id="7" name="TextBox 7"/>
          <p:cNvSpPr txBox="1"/>
          <p:nvPr/>
        </p:nvSpPr>
        <p:spPr>
          <a:xfrm>
            <a:off x="521207" y="6263640"/>
            <a:ext cx="338328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2E7D32"/>
                </a:solidFill>
                <a:latin typeface="Calibri"/>
              </a:defRPr>
            </a:pPr>
            <a:r>
              <a:t>Disease Detection</a:t>
            </a:r>
          </a:p>
        </p:txBody>
      </p:sp>
      <p:sp>
        <p:nvSpPr>
          <p:cNvPr id="8" name="Rounded Rectangle 8"/>
          <p:cNvSpPr/>
          <p:nvPr/>
        </p:nvSpPr>
        <p:spPr>
          <a:xfrm>
            <a:off x="4407407" y="1280160"/>
            <a:ext cx="3383280" cy="5486400"/>
          </a:xfrm>
          <a:prstGeom prst="roundRect">
            <a:avLst>
              <a:gd name="adj" fmla="val 20000"/>
            </a:avLst>
          </a:prstGeom>
          <a:solidFill>
            <a:srgbClr val="E8F5E9"/>
          </a:solidFill>
          <a:ln>
            <a:noFill/>
          </a:ln>
        </p:spPr>
        <p:txBody>
          <a:bodyPr/>
          <a:lstStyle/>
          <a:p>
            <a:endParaRPr/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27447" y="1165860"/>
            <a:ext cx="2743200" cy="5029200"/>
          </a:xfrm>
          <a:prstGeom prst="rect">
            <a:avLst/>
          </a:prstGeom>
        </p:spPr>
      </p:pic>
      <p:sp>
        <p:nvSpPr>
          <p:cNvPr id="10" name="TextBox 10"/>
          <p:cNvSpPr txBox="1"/>
          <p:nvPr/>
        </p:nvSpPr>
        <p:spPr>
          <a:xfrm>
            <a:off x="4407407" y="6263640"/>
            <a:ext cx="338328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2E7D32"/>
                </a:solidFill>
                <a:latin typeface="Calibri"/>
              </a:defRPr>
            </a:pPr>
            <a:r>
              <a:t>Farm Analytics</a:t>
            </a:r>
          </a:p>
        </p:txBody>
      </p:sp>
      <p:sp>
        <p:nvSpPr>
          <p:cNvPr id="11" name="Rounded Rectangle 11"/>
          <p:cNvSpPr/>
          <p:nvPr/>
        </p:nvSpPr>
        <p:spPr>
          <a:xfrm>
            <a:off x="8293607" y="1280160"/>
            <a:ext cx="3383280" cy="5486400"/>
          </a:xfrm>
          <a:prstGeom prst="roundRect">
            <a:avLst>
              <a:gd name="adj" fmla="val 20000"/>
            </a:avLst>
          </a:prstGeom>
          <a:solidFill>
            <a:srgbClr val="E8F5E9"/>
          </a:solidFill>
          <a:ln>
            <a:noFill/>
          </a:ln>
        </p:spPr>
        <p:txBody>
          <a:bodyPr/>
          <a:lstStyle/>
          <a:p>
            <a:endParaRPr/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05087" y="1165860"/>
            <a:ext cx="2743200" cy="5029200"/>
          </a:xfrm>
          <a:prstGeom prst="rect">
            <a:avLst/>
          </a:prstGeom>
        </p:spPr>
      </p:pic>
      <p:sp>
        <p:nvSpPr>
          <p:cNvPr id="13" name="TextBox 13"/>
          <p:cNvSpPr txBox="1"/>
          <p:nvPr/>
        </p:nvSpPr>
        <p:spPr>
          <a:xfrm>
            <a:off x="8293607" y="6263640"/>
            <a:ext cx="338328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2E7D32"/>
                </a:solidFill>
                <a:latin typeface="Calibri"/>
              </a:defRPr>
            </a:pPr>
            <a:r>
              <a:t>Talk To Us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574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Mobile Application (3/3)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13232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>
                <a:solidFill>
                  <a:srgbClr val="FFFFFF"/>
                </a:solidFill>
                <a:latin typeface="Calibri"/>
              </a:defRPr>
            </a:pPr>
            <a:r>
              <a:t>Freshness Check  |  Smart Pre-Check  |  AI Analysis</a:t>
            </a:r>
          </a:p>
        </p:txBody>
      </p:sp>
      <p:sp>
        <p:nvSpPr>
          <p:cNvPr id="5" name="Rounded Rectangle 5"/>
          <p:cNvSpPr/>
          <p:nvPr/>
        </p:nvSpPr>
        <p:spPr>
          <a:xfrm>
            <a:off x="521207" y="1280160"/>
            <a:ext cx="3383280" cy="5486400"/>
          </a:xfrm>
          <a:prstGeom prst="roundRect">
            <a:avLst>
              <a:gd name="adj" fmla="val 20000"/>
            </a:avLst>
          </a:prstGeom>
          <a:solidFill>
            <a:srgbClr val="E8F5E9"/>
          </a:solidFill>
          <a:ln>
            <a:noFill/>
          </a:ln>
        </p:spPr>
        <p:txBody>
          <a:bodyPr/>
          <a:lstStyle/>
          <a:p>
            <a:endParaRPr/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7" y="1165860"/>
            <a:ext cx="2743200" cy="5029200"/>
          </a:xfrm>
          <a:prstGeom prst="rect">
            <a:avLst/>
          </a:prstGeom>
        </p:spPr>
      </p:pic>
      <p:sp>
        <p:nvSpPr>
          <p:cNvPr id="7" name="TextBox 7"/>
          <p:cNvSpPr txBox="1"/>
          <p:nvPr/>
        </p:nvSpPr>
        <p:spPr>
          <a:xfrm>
            <a:off x="521207" y="6263640"/>
            <a:ext cx="338328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2E7D32"/>
                </a:solidFill>
                <a:latin typeface="Calibri"/>
              </a:defRPr>
            </a:pPr>
            <a:r>
              <a:t>Freshness Check</a:t>
            </a:r>
          </a:p>
        </p:txBody>
      </p:sp>
      <p:sp>
        <p:nvSpPr>
          <p:cNvPr id="8" name="Rounded Rectangle 8"/>
          <p:cNvSpPr/>
          <p:nvPr/>
        </p:nvSpPr>
        <p:spPr>
          <a:xfrm>
            <a:off x="4407407" y="1280160"/>
            <a:ext cx="3383280" cy="5486400"/>
          </a:xfrm>
          <a:prstGeom prst="roundRect">
            <a:avLst>
              <a:gd name="adj" fmla="val 20000"/>
            </a:avLst>
          </a:prstGeom>
          <a:solidFill>
            <a:srgbClr val="E8F5E9"/>
          </a:solidFill>
          <a:ln>
            <a:noFill/>
          </a:ln>
        </p:spPr>
        <p:txBody>
          <a:bodyPr/>
          <a:lstStyle/>
          <a:p>
            <a:endParaRPr/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27447" y="1165860"/>
            <a:ext cx="2743200" cy="5029200"/>
          </a:xfrm>
          <a:prstGeom prst="rect">
            <a:avLst/>
          </a:prstGeom>
        </p:spPr>
      </p:pic>
      <p:sp>
        <p:nvSpPr>
          <p:cNvPr id="10" name="TextBox 10"/>
          <p:cNvSpPr txBox="1"/>
          <p:nvPr/>
        </p:nvSpPr>
        <p:spPr>
          <a:xfrm>
            <a:off x="4407407" y="6263640"/>
            <a:ext cx="338328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2E7D32"/>
                </a:solidFill>
                <a:latin typeface="Calibri"/>
              </a:defRPr>
            </a:pPr>
            <a:r>
              <a:t>Smart Pre-Check</a:t>
            </a:r>
          </a:p>
        </p:txBody>
      </p:sp>
      <p:sp>
        <p:nvSpPr>
          <p:cNvPr id="11" name="Rounded Rectangle 11"/>
          <p:cNvSpPr/>
          <p:nvPr/>
        </p:nvSpPr>
        <p:spPr>
          <a:xfrm>
            <a:off x="8293607" y="1280160"/>
            <a:ext cx="3383280" cy="5486400"/>
          </a:xfrm>
          <a:prstGeom prst="roundRect">
            <a:avLst>
              <a:gd name="adj" fmla="val 20000"/>
            </a:avLst>
          </a:prstGeom>
          <a:solidFill>
            <a:srgbClr val="E8F5E9"/>
          </a:solidFill>
          <a:ln>
            <a:noFill/>
          </a:ln>
        </p:spPr>
        <p:txBody>
          <a:bodyPr/>
          <a:lstStyle/>
          <a:p>
            <a:endParaRPr/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05087" y="1165860"/>
            <a:ext cx="2743200" cy="5029200"/>
          </a:xfrm>
          <a:prstGeom prst="rect">
            <a:avLst/>
          </a:prstGeom>
        </p:spPr>
      </p:pic>
      <p:sp>
        <p:nvSpPr>
          <p:cNvPr id="13" name="TextBox 13"/>
          <p:cNvSpPr txBox="1"/>
          <p:nvPr/>
        </p:nvSpPr>
        <p:spPr>
          <a:xfrm>
            <a:off x="8293607" y="6263640"/>
            <a:ext cx="338328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2E7D32"/>
                </a:solidFill>
                <a:latin typeface="Calibri"/>
              </a:defRPr>
            </a:pPr>
            <a:r>
              <a:t>AI Analysis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8FFC8"/>
                </a:solidFill>
                <a:latin typeface="Calibri"/>
              </a:defRPr>
            </a:pPr>
            <a:r>
              <a:t>Microservices deployed on AWS EC2</a:t>
            </a:r>
          </a:p>
        </p:txBody>
      </p:sp>
      <p:sp>
        <p:nvSpPr>
          <p:cNvPr id="5" name="Rectangle 4"/>
          <p:cNvSpPr/>
          <p:nvPr/>
        </p:nvSpPr>
        <p:spPr>
          <a:xfrm>
            <a:off x="4754880" y="1463040"/>
            <a:ext cx="2743200" cy="64008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754880" y="1554480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565C0"/>
                </a:solidFill>
                <a:latin typeface="Calibri"/>
              </a:defRPr>
            </a:pPr>
            <a:r>
              <a:t>Flutter App</a:t>
            </a:r>
          </a:p>
        </p:txBody>
      </p:sp>
      <p:sp>
        <p:nvSpPr>
          <p:cNvPr id="7" name="Rectangle 6"/>
          <p:cNvSpPr/>
          <p:nvPr/>
        </p:nvSpPr>
        <p:spPr>
          <a:xfrm>
            <a:off x="4754880" y="2377440"/>
            <a:ext cx="2743200" cy="64008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754880" y="2468880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E67300"/>
                </a:solidFill>
                <a:latin typeface="Calibri"/>
              </a:defRPr>
            </a:pPr>
            <a:r>
              <a:t>Nginx + SSL</a:t>
            </a:r>
          </a:p>
        </p:txBody>
      </p:sp>
      <p:sp>
        <p:nvSpPr>
          <p:cNvPr id="9" name="Rectangle 8"/>
          <p:cNvSpPr/>
          <p:nvPr/>
        </p:nvSpPr>
        <p:spPr>
          <a:xfrm>
            <a:off x="4754880" y="3291840"/>
            <a:ext cx="2743200" cy="64008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754880" y="3383280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2E7D32"/>
                </a:solidFill>
                <a:latin typeface="Calibri"/>
              </a:defRPr>
            </a:pPr>
            <a:r>
              <a:t>API Gateway :8000</a:t>
            </a:r>
          </a:p>
        </p:txBody>
      </p:sp>
      <p:sp>
        <p:nvSpPr>
          <p:cNvPr id="11" name="Down Arrow 10"/>
          <p:cNvSpPr/>
          <p:nvPr/>
        </p:nvSpPr>
        <p:spPr>
          <a:xfrm>
            <a:off x="5852160" y="2148840"/>
            <a:ext cx="457200" cy="228600"/>
          </a:xfrm>
          <a:prstGeom prst="downArrow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Down Arrow 11"/>
          <p:cNvSpPr/>
          <p:nvPr/>
        </p:nvSpPr>
        <p:spPr>
          <a:xfrm>
            <a:off x="5852160" y="3063240"/>
            <a:ext cx="457200" cy="228600"/>
          </a:xfrm>
          <a:prstGeom prst="downArrow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1371600" y="4389120"/>
            <a:ext cx="2011680" cy="82296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371600" y="4389120"/>
            <a:ext cx="2011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E7D32"/>
                </a:solidFill>
                <a:latin typeface="Calibri"/>
              </a:defRPr>
            </a:pPr>
            <a:r>
              <a:rPr dirty="0"/>
              <a:t>Auth</a:t>
            </a:r>
            <a:br>
              <a:rPr dirty="0"/>
            </a:br>
            <a:r>
              <a:rPr dirty="0"/>
              <a:t>:8001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0" y="4389120"/>
            <a:ext cx="2011680" cy="82296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657600" y="4389120"/>
            <a:ext cx="2011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E7D32"/>
                </a:solidFill>
                <a:latin typeface="Calibri"/>
              </a:defRPr>
            </a:pPr>
            <a:r>
              <a:t>Diagnosis</a:t>
            </a:r>
            <a:br/>
            <a:r>
              <a:t>:8002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43600" y="4389120"/>
            <a:ext cx="2011680" cy="82296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943600" y="4389120"/>
            <a:ext cx="2011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E7D32"/>
                </a:solidFill>
                <a:latin typeface="Calibri"/>
              </a:defRPr>
            </a:pPr>
            <a:r>
              <a:t>Treatment</a:t>
            </a:r>
            <a:br/>
            <a:r>
              <a:t>:8003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29600" y="4389120"/>
            <a:ext cx="2011680" cy="82296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229600" y="4389120"/>
            <a:ext cx="2011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E7D32"/>
                </a:solidFill>
                <a:latin typeface="Calibri"/>
              </a:defRPr>
            </a:pPr>
            <a:r>
              <a:t>Analytics</a:t>
            </a:r>
            <a:br/>
            <a:r>
              <a:t>:8004</a:t>
            </a:r>
          </a:p>
        </p:txBody>
      </p:sp>
      <p:sp>
        <p:nvSpPr>
          <p:cNvPr id="21" name="Down Arrow 20"/>
          <p:cNvSpPr/>
          <p:nvPr/>
        </p:nvSpPr>
        <p:spPr>
          <a:xfrm>
            <a:off x="5852160" y="5257800"/>
            <a:ext cx="457200" cy="228600"/>
          </a:xfrm>
          <a:prstGeom prst="downArrow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3200400" y="5577840"/>
            <a:ext cx="5760720" cy="73152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200400" y="5669280"/>
            <a:ext cx="5760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2E7D32"/>
                </a:solidFill>
                <a:latin typeface="Calibri"/>
              </a:defRPr>
            </a:pPr>
            <a:r>
              <a:t>MongoDB Atlas (Cloud Database)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Use Case Diagram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8FFC8"/>
                </a:solidFill>
                <a:latin typeface="Calibri"/>
              </a:defRPr>
            </a:pPr>
            <a:r>
              <a:t>Role-based access control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0" y="1280160"/>
            <a:ext cx="8503920" cy="5394960"/>
          </a:xfrm>
          <a:prstGeom prst="rect">
            <a:avLst/>
          </a:prstGeom>
          <a:solidFill>
            <a:srgbClr val="FAFDFA"/>
          </a:solidFill>
          <a:ln w="2540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481328" y="1920240"/>
            <a:ext cx="329184" cy="329184"/>
          </a:xfrm>
          <a:prstGeom prst="ellipse">
            <a:avLst/>
          </a:prstGeom>
          <a:solidFill>
            <a:srgbClr val="2E7D32"/>
          </a:solidFill>
          <a:ln w="254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1620520" y="2286000"/>
            <a:ext cx="50800" cy="32004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1444752" y="2359152"/>
            <a:ext cx="402336" cy="381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1536192" y="2606040"/>
            <a:ext cx="38100" cy="2286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1719072" y="2606040"/>
            <a:ext cx="38100" cy="2286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05840" y="2880360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2E7D32"/>
                </a:solidFill>
                <a:latin typeface="Calibri"/>
              </a:defRPr>
            </a:pPr>
            <a:r>
              <a:t>Farmer</a:t>
            </a:r>
          </a:p>
        </p:txBody>
      </p:sp>
      <p:sp>
        <p:nvSpPr>
          <p:cNvPr id="13" name="Oval 12"/>
          <p:cNvSpPr/>
          <p:nvPr/>
        </p:nvSpPr>
        <p:spPr>
          <a:xfrm>
            <a:off x="1481328" y="3749040"/>
            <a:ext cx="329184" cy="329184"/>
          </a:xfrm>
          <a:prstGeom prst="ellipse">
            <a:avLst/>
          </a:prstGeom>
          <a:solidFill>
            <a:srgbClr val="1565C0"/>
          </a:solidFill>
          <a:ln w="2540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1620520" y="4114800"/>
            <a:ext cx="50800" cy="32004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1444752" y="4187952"/>
            <a:ext cx="402336" cy="3810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1536192" y="4434840"/>
            <a:ext cx="38100" cy="22860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1719072" y="4434840"/>
            <a:ext cx="38100" cy="22860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05840" y="4709160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565C0"/>
                </a:solidFill>
                <a:latin typeface="Calibri"/>
              </a:defRPr>
            </a:pPr>
            <a:r>
              <a:t>Extension</a:t>
            </a:r>
            <a:br/>
            <a:r>
              <a:t>Officer</a:t>
            </a:r>
          </a:p>
        </p:txBody>
      </p:sp>
      <p:sp>
        <p:nvSpPr>
          <p:cNvPr id="19" name="Oval 18"/>
          <p:cNvSpPr/>
          <p:nvPr/>
        </p:nvSpPr>
        <p:spPr>
          <a:xfrm>
            <a:off x="1481328" y="5394960"/>
            <a:ext cx="329184" cy="329184"/>
          </a:xfrm>
          <a:prstGeom prst="ellipse">
            <a:avLst/>
          </a:prstGeom>
          <a:solidFill>
            <a:srgbClr val="6A1B9A"/>
          </a:solidFill>
          <a:ln w="25400">
            <a:solidFill>
              <a:srgbClr val="6A1B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1620520" y="5760720"/>
            <a:ext cx="50800" cy="320040"/>
          </a:xfrm>
          <a:prstGeom prst="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1444752" y="5833872"/>
            <a:ext cx="402336" cy="38100"/>
          </a:xfrm>
          <a:prstGeom prst="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1536192" y="6080760"/>
            <a:ext cx="38100" cy="228600"/>
          </a:xfrm>
          <a:prstGeom prst="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1719072" y="6080760"/>
            <a:ext cx="38100" cy="228600"/>
          </a:xfrm>
          <a:prstGeom prst="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005840" y="6355080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6A1B9A"/>
                </a:solidFill>
                <a:latin typeface="Calibri"/>
              </a:defRPr>
            </a:pPr>
            <a:r>
              <a:t>Admin</a:t>
            </a:r>
          </a:p>
        </p:txBody>
      </p:sp>
      <p:sp>
        <p:nvSpPr>
          <p:cNvPr id="25" name="Oval 24"/>
          <p:cNvSpPr/>
          <p:nvPr/>
        </p:nvSpPr>
        <p:spPr>
          <a:xfrm>
            <a:off x="3657600" y="1737360"/>
            <a:ext cx="2103120" cy="502920"/>
          </a:xfrm>
          <a:prstGeom prst="ellipse">
            <a:avLst/>
          </a:prstGeom>
          <a:solidFill>
            <a:srgbClr val="E8F5E9"/>
          </a:solidFill>
          <a:ln w="190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>
                <a:solidFill>
                  <a:srgbClr val="212121"/>
                </a:solidFill>
                <a:latin typeface="Calibri"/>
              </a:defRPr>
            </a:pPr>
            <a:r>
              <a:t>Scan Disease</a:t>
            </a:r>
          </a:p>
        </p:txBody>
      </p:sp>
      <p:sp>
        <p:nvSpPr>
          <p:cNvPr id="26" name="Oval 25"/>
          <p:cNvSpPr/>
          <p:nvPr/>
        </p:nvSpPr>
        <p:spPr>
          <a:xfrm>
            <a:off x="3657600" y="2331720"/>
            <a:ext cx="2103120" cy="502920"/>
          </a:xfrm>
          <a:prstGeom prst="ellipse">
            <a:avLst/>
          </a:prstGeom>
          <a:solidFill>
            <a:srgbClr val="E8F5E9"/>
          </a:solidFill>
          <a:ln w="190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>
                <a:solidFill>
                  <a:srgbClr val="212121"/>
                </a:solidFill>
                <a:latin typeface="Calibri"/>
              </a:defRPr>
            </a:pPr>
            <a:r>
              <a:t>Check Freshness</a:t>
            </a:r>
          </a:p>
        </p:txBody>
      </p:sp>
      <p:sp>
        <p:nvSpPr>
          <p:cNvPr id="27" name="Oval 26"/>
          <p:cNvSpPr/>
          <p:nvPr/>
        </p:nvSpPr>
        <p:spPr>
          <a:xfrm>
            <a:off x="3657600" y="2926080"/>
            <a:ext cx="2103120" cy="502920"/>
          </a:xfrm>
          <a:prstGeom prst="ellipse">
            <a:avLst/>
          </a:prstGeom>
          <a:solidFill>
            <a:srgbClr val="E8F5E9"/>
          </a:solidFill>
          <a:ln w="190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>
                <a:solidFill>
                  <a:srgbClr val="212121"/>
                </a:solidFill>
                <a:latin typeface="Calibri"/>
              </a:defRPr>
            </a:pPr>
            <a:r>
              <a:t>View Treatment</a:t>
            </a:r>
          </a:p>
        </p:txBody>
      </p:sp>
      <p:sp>
        <p:nvSpPr>
          <p:cNvPr id="28" name="Oval 27"/>
          <p:cNvSpPr/>
          <p:nvPr/>
        </p:nvSpPr>
        <p:spPr>
          <a:xfrm>
            <a:off x="6583680" y="1737360"/>
            <a:ext cx="2103120" cy="502920"/>
          </a:xfrm>
          <a:prstGeom prst="ellipse">
            <a:avLst/>
          </a:prstGeom>
          <a:solidFill>
            <a:srgbClr val="E8F5E9"/>
          </a:solidFill>
          <a:ln w="190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>
                <a:solidFill>
                  <a:srgbClr val="212121"/>
                </a:solidFill>
                <a:latin typeface="Calibri"/>
              </a:defRPr>
            </a:pPr>
            <a:r>
              <a:t>Voice Playback</a:t>
            </a:r>
          </a:p>
        </p:txBody>
      </p:sp>
      <p:sp>
        <p:nvSpPr>
          <p:cNvPr id="29" name="Oval 28"/>
          <p:cNvSpPr/>
          <p:nvPr/>
        </p:nvSpPr>
        <p:spPr>
          <a:xfrm>
            <a:off x="6583680" y="2331720"/>
            <a:ext cx="2103120" cy="502920"/>
          </a:xfrm>
          <a:prstGeom prst="ellipse">
            <a:avLst/>
          </a:prstGeom>
          <a:solidFill>
            <a:srgbClr val="E8F5E9"/>
          </a:solidFill>
          <a:ln w="190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>
                <a:solidFill>
                  <a:srgbClr val="212121"/>
                </a:solidFill>
                <a:latin typeface="Calibri"/>
              </a:defRPr>
            </a:pPr>
            <a:r>
              <a:t>Scan History</a:t>
            </a:r>
          </a:p>
        </p:txBody>
      </p:sp>
      <p:sp>
        <p:nvSpPr>
          <p:cNvPr id="30" name="Oval 29"/>
          <p:cNvSpPr/>
          <p:nvPr/>
        </p:nvSpPr>
        <p:spPr>
          <a:xfrm>
            <a:off x="6583680" y="2926080"/>
            <a:ext cx="2103120" cy="502920"/>
          </a:xfrm>
          <a:prstGeom prst="ellipse">
            <a:avLst/>
          </a:prstGeom>
          <a:solidFill>
            <a:srgbClr val="E8F5E9"/>
          </a:solidFill>
          <a:ln w="190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>
                <a:solidFill>
                  <a:srgbClr val="212121"/>
                </a:solidFill>
                <a:latin typeface="Calibri"/>
              </a:defRPr>
            </a:pPr>
            <a:r>
              <a:t>Personal Analytics</a:t>
            </a:r>
          </a:p>
        </p:txBody>
      </p:sp>
      <p:sp>
        <p:nvSpPr>
          <p:cNvPr id="31" name="Oval 30"/>
          <p:cNvSpPr/>
          <p:nvPr/>
        </p:nvSpPr>
        <p:spPr>
          <a:xfrm>
            <a:off x="3657600" y="3566160"/>
            <a:ext cx="2103120" cy="502920"/>
          </a:xfrm>
          <a:prstGeom prst="ellipse">
            <a:avLst/>
          </a:prstGeom>
          <a:solidFill>
            <a:srgbClr val="E3F2FD"/>
          </a:solidFill>
          <a:ln w="1905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>
                <a:solidFill>
                  <a:srgbClr val="212121"/>
                </a:solidFill>
                <a:latin typeface="Calibri"/>
              </a:defRPr>
            </a:pPr>
            <a:r>
              <a:t>Scan Disease</a:t>
            </a:r>
          </a:p>
        </p:txBody>
      </p:sp>
      <p:sp>
        <p:nvSpPr>
          <p:cNvPr id="32" name="Oval 31"/>
          <p:cNvSpPr/>
          <p:nvPr/>
        </p:nvSpPr>
        <p:spPr>
          <a:xfrm>
            <a:off x="3657600" y="4160520"/>
            <a:ext cx="2103120" cy="502920"/>
          </a:xfrm>
          <a:prstGeom prst="ellipse">
            <a:avLst/>
          </a:prstGeom>
          <a:solidFill>
            <a:srgbClr val="E3F2FD"/>
          </a:solidFill>
          <a:ln w="1905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>
                <a:solidFill>
                  <a:srgbClr val="212121"/>
                </a:solidFill>
                <a:latin typeface="Calibri"/>
              </a:defRPr>
            </a:pPr>
            <a:r>
              <a:t>Check Freshness</a:t>
            </a:r>
          </a:p>
        </p:txBody>
      </p:sp>
      <p:sp>
        <p:nvSpPr>
          <p:cNvPr id="33" name="Oval 32"/>
          <p:cNvSpPr/>
          <p:nvPr/>
        </p:nvSpPr>
        <p:spPr>
          <a:xfrm>
            <a:off x="6583680" y="3566160"/>
            <a:ext cx="2103120" cy="502920"/>
          </a:xfrm>
          <a:prstGeom prst="ellipse">
            <a:avLst/>
          </a:prstGeom>
          <a:solidFill>
            <a:srgbClr val="E3F2FD"/>
          </a:solidFill>
          <a:ln w="1905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>
                <a:solidFill>
                  <a:srgbClr val="212121"/>
                </a:solidFill>
                <a:latin typeface="Calibri"/>
              </a:defRPr>
            </a:pPr>
            <a:r>
              <a:t>View All Scans</a:t>
            </a:r>
          </a:p>
        </p:txBody>
      </p:sp>
      <p:sp>
        <p:nvSpPr>
          <p:cNvPr id="34" name="Oval 33"/>
          <p:cNvSpPr/>
          <p:nvPr/>
        </p:nvSpPr>
        <p:spPr>
          <a:xfrm>
            <a:off x="6583680" y="4160520"/>
            <a:ext cx="2103120" cy="502920"/>
          </a:xfrm>
          <a:prstGeom prst="ellipse">
            <a:avLst/>
          </a:prstGeom>
          <a:solidFill>
            <a:srgbClr val="E3F2FD"/>
          </a:solidFill>
          <a:ln w="1905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>
                <a:solidFill>
                  <a:srgbClr val="212121"/>
                </a:solidFill>
                <a:latin typeface="Calibri"/>
              </a:defRPr>
            </a:pPr>
            <a:r>
              <a:t>Regional Trends</a:t>
            </a:r>
          </a:p>
        </p:txBody>
      </p:sp>
      <p:sp>
        <p:nvSpPr>
          <p:cNvPr id="35" name="Oval 34"/>
          <p:cNvSpPr/>
          <p:nvPr/>
        </p:nvSpPr>
        <p:spPr>
          <a:xfrm>
            <a:off x="3657600" y="5212080"/>
            <a:ext cx="2103120" cy="502920"/>
          </a:xfrm>
          <a:prstGeom prst="ellipse">
            <a:avLst/>
          </a:prstGeom>
          <a:solidFill>
            <a:srgbClr val="F3E5F5"/>
          </a:solidFill>
          <a:ln w="19050">
            <a:solidFill>
              <a:srgbClr val="6A1B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>
                <a:solidFill>
                  <a:srgbClr val="212121"/>
                </a:solidFill>
                <a:latin typeface="Calibri"/>
              </a:defRPr>
            </a:pPr>
            <a:r>
              <a:t>Scan Disease</a:t>
            </a:r>
          </a:p>
        </p:txBody>
      </p:sp>
      <p:sp>
        <p:nvSpPr>
          <p:cNvPr id="36" name="Oval 35"/>
          <p:cNvSpPr/>
          <p:nvPr/>
        </p:nvSpPr>
        <p:spPr>
          <a:xfrm>
            <a:off x="3657600" y="5806440"/>
            <a:ext cx="2103120" cy="502920"/>
          </a:xfrm>
          <a:prstGeom prst="ellipse">
            <a:avLst/>
          </a:prstGeom>
          <a:solidFill>
            <a:srgbClr val="F3E5F5"/>
          </a:solidFill>
          <a:ln w="19050">
            <a:solidFill>
              <a:srgbClr val="6A1B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>
                <a:solidFill>
                  <a:srgbClr val="212121"/>
                </a:solidFill>
                <a:latin typeface="Calibri"/>
              </a:defRPr>
            </a:pPr>
            <a:r>
              <a:t>Check Freshness</a:t>
            </a:r>
          </a:p>
        </p:txBody>
      </p:sp>
      <p:sp>
        <p:nvSpPr>
          <p:cNvPr id="37" name="Oval 36"/>
          <p:cNvSpPr/>
          <p:nvPr/>
        </p:nvSpPr>
        <p:spPr>
          <a:xfrm>
            <a:off x="6583680" y="5212080"/>
            <a:ext cx="2103120" cy="502920"/>
          </a:xfrm>
          <a:prstGeom prst="ellipse">
            <a:avLst/>
          </a:prstGeom>
          <a:solidFill>
            <a:srgbClr val="F3E5F5"/>
          </a:solidFill>
          <a:ln w="19050">
            <a:solidFill>
              <a:srgbClr val="6A1B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>
                <a:solidFill>
                  <a:srgbClr val="212121"/>
                </a:solidFill>
                <a:latin typeface="Calibri"/>
              </a:defRPr>
            </a:pPr>
            <a:r>
              <a:t>Manage Users</a:t>
            </a:r>
          </a:p>
        </p:txBody>
      </p:sp>
      <p:sp>
        <p:nvSpPr>
          <p:cNvPr id="38" name="Oval 37"/>
          <p:cNvSpPr/>
          <p:nvPr/>
        </p:nvSpPr>
        <p:spPr>
          <a:xfrm>
            <a:off x="6583680" y="5806440"/>
            <a:ext cx="2103120" cy="502920"/>
          </a:xfrm>
          <a:prstGeom prst="ellipse">
            <a:avLst/>
          </a:prstGeom>
          <a:solidFill>
            <a:srgbClr val="F3E5F5"/>
          </a:solidFill>
          <a:ln w="19050">
            <a:solidFill>
              <a:srgbClr val="6A1B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>
                <a:solidFill>
                  <a:srgbClr val="212121"/>
                </a:solidFill>
                <a:latin typeface="Calibri"/>
              </a:defRPr>
            </a:pPr>
            <a:r>
              <a:t>Platform Analytics</a:t>
            </a:r>
          </a:p>
        </p:txBody>
      </p:sp>
      <p:cxnSp>
        <p:nvCxnSpPr>
          <p:cNvPr id="39" name="Connector 38"/>
          <p:cNvCxnSpPr/>
          <p:nvPr/>
        </p:nvCxnSpPr>
        <p:spPr>
          <a:xfrm flipV="1">
            <a:off x="2286000" y="0"/>
            <a:ext cx="1371600" cy="0"/>
          </a:xfrm>
          <a:prstGeom prst="line">
            <a:avLst/>
          </a:prstGeom>
          <a:ln w="19050">
            <a:solidFill>
              <a:srgbClr val="2E7D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 flipV="1">
            <a:off x="2286000" y="0"/>
            <a:ext cx="4023360" cy="0"/>
          </a:xfrm>
          <a:prstGeom prst="line">
            <a:avLst/>
          </a:prstGeom>
          <a:ln w="19050">
            <a:solidFill>
              <a:srgbClr val="2E7D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 flipV="1">
            <a:off x="2286000" y="0"/>
            <a:ext cx="1371600" cy="0"/>
          </a:xfrm>
          <a:prstGeom prst="line">
            <a:avLst/>
          </a:prstGeom>
          <a:ln w="19050">
            <a:solidFill>
              <a:srgbClr val="1565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 flipV="1">
            <a:off x="2286000" y="0"/>
            <a:ext cx="4023360" cy="0"/>
          </a:xfrm>
          <a:prstGeom prst="line">
            <a:avLst/>
          </a:prstGeom>
          <a:ln w="19050">
            <a:solidFill>
              <a:srgbClr val="1565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 flipV="1">
            <a:off x="2286000" y="0"/>
            <a:ext cx="1371600" cy="0"/>
          </a:xfrm>
          <a:prstGeom prst="line">
            <a:avLst/>
          </a:prstGeom>
          <a:ln w="19050">
            <a:solidFill>
              <a:srgbClr val="6A1B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 flipV="1">
            <a:off x="2286000" y="0"/>
            <a:ext cx="4023360" cy="0"/>
          </a:xfrm>
          <a:prstGeom prst="line">
            <a:avLst/>
          </a:prstGeom>
          <a:ln w="19050">
            <a:solidFill>
              <a:srgbClr val="6A1B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Rectangle 52"/>
          <p:cNvSpPr/>
          <p:nvPr/>
        </p:nvSpPr>
        <p:spPr>
          <a:xfrm>
            <a:off x="9410931" y="1361671"/>
            <a:ext cx="2286000" cy="13716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10191865" y="1427249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12121"/>
                </a:solidFill>
                <a:latin typeface="Calibri"/>
              </a:defRPr>
            </a:pPr>
            <a:r>
              <a:rPr dirty="0"/>
              <a:t>Legend</a:t>
            </a:r>
          </a:p>
        </p:txBody>
      </p:sp>
      <p:sp>
        <p:nvSpPr>
          <p:cNvPr id="55" name="Oval 54"/>
          <p:cNvSpPr/>
          <p:nvPr/>
        </p:nvSpPr>
        <p:spPr>
          <a:xfrm>
            <a:off x="9784080" y="1874520"/>
            <a:ext cx="137160" cy="137160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10012680" y="18288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E7D32"/>
                </a:solidFill>
                <a:latin typeface="Calibri"/>
              </a:defRPr>
            </a:pPr>
            <a:r>
              <a:t>Farmer</a:t>
            </a:r>
          </a:p>
        </p:txBody>
      </p:sp>
      <p:sp>
        <p:nvSpPr>
          <p:cNvPr id="57" name="Oval 56"/>
          <p:cNvSpPr/>
          <p:nvPr/>
        </p:nvSpPr>
        <p:spPr>
          <a:xfrm>
            <a:off x="9784080" y="2194560"/>
            <a:ext cx="137160" cy="137160"/>
          </a:xfrm>
          <a:prstGeom prst="ellipse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10012680" y="21488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565C0"/>
                </a:solidFill>
                <a:latin typeface="Calibri"/>
              </a:defRPr>
            </a:pPr>
            <a:r>
              <a:t>Extension Officer</a:t>
            </a:r>
          </a:p>
        </p:txBody>
      </p:sp>
      <p:sp>
        <p:nvSpPr>
          <p:cNvPr id="59" name="Oval 58"/>
          <p:cNvSpPr/>
          <p:nvPr/>
        </p:nvSpPr>
        <p:spPr>
          <a:xfrm>
            <a:off x="9784080" y="2514600"/>
            <a:ext cx="137160" cy="137160"/>
          </a:xfrm>
          <a:prstGeom prst="ellipse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10012680" y="24688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A1B9A"/>
                </a:solidFill>
                <a:latin typeface="Calibri"/>
              </a:defRPr>
            </a:pPr>
            <a:r>
              <a:t>Admin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Technology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8FFC8"/>
                </a:solidFill>
                <a:latin typeface="Calibri"/>
              </a:defRPr>
            </a:pPr>
            <a:r>
              <a:t>Full-stack modern architecture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463040"/>
            <a:ext cx="5303520" cy="59436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55448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E7D32"/>
                </a:solidFill>
                <a:latin typeface="Calibri"/>
              </a:defRPr>
            </a:pPr>
            <a:r>
              <a:t>Frontend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0" y="155448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212121"/>
                </a:solidFill>
                <a:latin typeface="Calibri"/>
              </a:defRPr>
            </a:pPr>
            <a:r>
              <a:t>Flutter / Dart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148840"/>
            <a:ext cx="5303520" cy="59436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0080" y="224028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E7D32"/>
                </a:solidFill>
                <a:latin typeface="Calibri"/>
              </a:defRPr>
            </a:pPr>
            <a:r>
              <a:t>Backend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0" y="224028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212121"/>
                </a:solidFill>
                <a:latin typeface="Calibri"/>
              </a:defRPr>
            </a:pPr>
            <a:r>
              <a:t>FastAPI / Python 3.11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834640"/>
            <a:ext cx="5303520" cy="59436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0080" y="292608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E7D32"/>
                </a:solidFill>
                <a:latin typeface="Calibri"/>
              </a:defRPr>
            </a:pPr>
            <a:r>
              <a:t>Database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0" y="292608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212121"/>
                </a:solidFill>
                <a:latin typeface="Calibri"/>
              </a:defRPr>
            </a:pPr>
            <a:r>
              <a:t>MongoDB Atlas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520440"/>
            <a:ext cx="5303520" cy="59436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0080" y="361188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E7D32"/>
                </a:solidFill>
                <a:latin typeface="Calibri"/>
              </a:defRPr>
            </a:pPr>
            <a:r>
              <a:t>ML Model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43200" y="361188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212121"/>
                </a:solidFill>
                <a:latin typeface="Calibri"/>
              </a:defRPr>
            </a:pPr>
            <a:r>
              <a:t>TensorFlow Lite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4206240"/>
            <a:ext cx="5303520" cy="59436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0080" y="429768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E7D32"/>
                </a:solidFill>
                <a:latin typeface="Calibri"/>
              </a:defRPr>
            </a:pPr>
            <a:r>
              <a:t>Vision AI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43200" y="429768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212121"/>
                </a:solidFill>
                <a:latin typeface="Calibri"/>
              </a:defRPr>
            </a:pPr>
            <a:r>
              <a:t>Google Gemini 2.5 Flash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4892040"/>
            <a:ext cx="5303520" cy="59436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40080" y="498348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E7D32"/>
                </a:solidFill>
                <a:latin typeface="Calibri"/>
              </a:defRPr>
            </a:pPr>
            <a:r>
              <a:t>Voice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43200" y="498348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212121"/>
                </a:solidFill>
                <a:latin typeface="Calibri"/>
              </a:defRPr>
            </a:pPr>
            <a:r>
              <a:t>Google TTS (gTTS)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5577840"/>
            <a:ext cx="5303520" cy="59436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40080" y="566928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E7D32"/>
                </a:solidFill>
                <a:latin typeface="Calibri"/>
              </a:defRPr>
            </a:pPr>
            <a:r>
              <a:t>State Mgmt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743200" y="566928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212121"/>
                </a:solidFill>
                <a:latin typeface="Calibri"/>
              </a:defRPr>
            </a:pPr>
            <a:r>
              <a:t>Provider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0" y="1463040"/>
            <a:ext cx="5303520" cy="59436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583680" y="155448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E7D32"/>
                </a:solidFill>
                <a:latin typeface="Calibri"/>
              </a:defRPr>
            </a:pPr>
            <a:r>
              <a:t>Charts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86800" y="155448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212121"/>
                </a:solidFill>
                <a:latin typeface="Calibri"/>
              </a:defRPr>
            </a:pPr>
            <a:r>
              <a:t>fl_chart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00800" y="2148840"/>
            <a:ext cx="5303520" cy="59436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583680" y="224028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E7D32"/>
                </a:solidFill>
                <a:latin typeface="Calibri"/>
              </a:defRPr>
            </a:pPr>
            <a:r>
              <a:rPr dirty="0"/>
              <a:t>Auth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686800" y="224028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212121"/>
                </a:solidFill>
                <a:latin typeface="Calibri"/>
              </a:defRPr>
            </a:pPr>
            <a:r>
              <a:rPr dirty="0"/>
              <a:t>JWT + Bcrypt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00800" y="2834640"/>
            <a:ext cx="5303520" cy="59436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583680" y="292608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E7D32"/>
                </a:solidFill>
                <a:latin typeface="Calibri"/>
              </a:defRPr>
            </a:pPr>
            <a:r>
              <a:t>Biometrics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686800" y="292608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212121"/>
                </a:solidFill>
                <a:latin typeface="Calibri"/>
              </a:defRPr>
            </a:pPr>
            <a:r>
              <a:t>local_auth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400800" y="3520440"/>
            <a:ext cx="5303520" cy="59436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583680" y="361188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E7D32"/>
                </a:solidFill>
                <a:latin typeface="Calibri"/>
              </a:defRPr>
            </a:pPr>
            <a:r>
              <a:t>Containers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686800" y="361188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212121"/>
                </a:solidFill>
                <a:latin typeface="Calibri"/>
              </a:defRPr>
            </a:pPr>
            <a:r>
              <a:t>Docker + Compose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400800" y="4206240"/>
            <a:ext cx="5303520" cy="59436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583680" y="429768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E7D32"/>
                </a:solidFill>
                <a:latin typeface="Calibri"/>
              </a:defRPr>
            </a:pPr>
            <a:r>
              <a:t>Proxy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686800" y="429768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212121"/>
                </a:solidFill>
                <a:latin typeface="Calibri"/>
              </a:defRPr>
            </a:pPr>
            <a:r>
              <a:t>Nginx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400800" y="4892040"/>
            <a:ext cx="5303520" cy="59436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6583680" y="498348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E7D32"/>
                </a:solidFill>
                <a:latin typeface="Calibri"/>
              </a:defRPr>
            </a:pPr>
            <a:r>
              <a:t>SSL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686800" y="498348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212121"/>
                </a:solidFill>
                <a:latin typeface="Calibri"/>
              </a:defRPr>
            </a:pPr>
            <a:r>
              <a:t>Let's Encrypt + Certbot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400800" y="5577840"/>
            <a:ext cx="5303520" cy="59436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6583680" y="566928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E7D32"/>
                </a:solidFill>
                <a:latin typeface="Calibri"/>
              </a:defRPr>
            </a:pPr>
            <a:r>
              <a:t>DNS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686800" y="566928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212121"/>
                </a:solidFill>
                <a:latin typeface="Calibri"/>
              </a:defRPr>
            </a:pPr>
            <a:r>
              <a:t>DuckDNS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E7D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678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onion-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9160" y="235395"/>
            <a:ext cx="2743200" cy="168457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1965822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  <a:latin typeface="Calibri"/>
              </a:defRPr>
            </a:pPr>
            <a:r>
              <a:rPr dirty="0"/>
              <a:t>Thank You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0" y="2926080"/>
            <a:ext cx="3017520" cy="38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206630" y="3747312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C8FFC8"/>
                </a:solidFill>
                <a:latin typeface="Calibri"/>
              </a:defRPr>
            </a:pPr>
            <a:r>
              <a:rPr dirty="0"/>
              <a:t>Nkabom Honours Team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06630" y="4987644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B4E6B4"/>
                </a:solidFill>
                <a:latin typeface="Calibri"/>
              </a:defRPr>
            </a:pPr>
            <a:r>
              <a:rPr dirty="0"/>
              <a:t>University of Ghana  | 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06630" y="5772504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A0DCA0"/>
                </a:solidFill>
                <a:latin typeface="Calibri"/>
              </a:defRPr>
            </a:pPr>
            <a:r>
              <a:rPr dirty="0"/>
              <a:t>OnionGuard  |  AI-Powered Onion Disease Detection</a:t>
            </a:r>
            <a:br>
              <a:rPr dirty="0"/>
            </a:br>
            <a:r>
              <a:rPr dirty="0"/>
              <a:t>https://onion-guard.duckdns.org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dr"/>
          <p:cNvSpPr/>
          <p:nvPr/>
        </p:nvSpPr>
        <p:spPr>
          <a:xfrm>
            <a:off x="0" y="-37708"/>
            <a:ext cx="12191695" cy="109728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itle"/>
          <p:cNvSpPr txBox="1"/>
          <p:nvPr/>
        </p:nvSpPr>
        <p:spPr>
          <a:xfrm>
            <a:off x="731520" y="190893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Relevance of This Work</a:t>
            </a:r>
          </a:p>
        </p:txBody>
      </p:sp>
      <p:sp>
        <p:nvSpPr>
          <p:cNvPr id="4" name="Sub"/>
          <p:cNvSpPr txBox="1"/>
          <p:nvPr/>
        </p:nvSpPr>
        <p:spPr>
          <a:xfrm>
            <a:off x="731520" y="6858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8FFC8"/>
                </a:solidFill>
                <a:latin typeface="Calibri"/>
              </a:defRPr>
            </a:pPr>
            <a:r>
              <a:t>Why OnionGuard matters beyond the classroom</a:t>
            </a:r>
          </a:p>
        </p:txBody>
      </p:sp>
      <p:sp>
        <p:nvSpPr>
          <p:cNvPr id="5" name="B1bg"/>
          <p:cNvSpPr/>
          <p:nvPr/>
        </p:nvSpPr>
        <p:spPr>
          <a:xfrm>
            <a:off x="457200" y="1280160"/>
            <a:ext cx="5486400" cy="256032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B1ttl"/>
          <p:cNvSpPr txBox="1"/>
          <p:nvPr/>
        </p:nvSpPr>
        <p:spPr>
          <a:xfrm>
            <a:off x="731520" y="1463040"/>
            <a:ext cx="494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E7D32"/>
                </a:solidFill>
                <a:latin typeface="Calibri"/>
              </a:defRPr>
            </a:pPr>
            <a:r>
              <a:t>First ML Benchmark for Onion Disease</a:t>
            </a:r>
          </a:p>
        </p:txBody>
      </p:sp>
      <p:sp>
        <p:nvSpPr>
          <p:cNvPr id="7" name="B1ln"/>
          <p:cNvSpPr/>
          <p:nvPr/>
        </p:nvSpPr>
        <p:spPr>
          <a:xfrm>
            <a:off x="731520" y="2011680"/>
            <a:ext cx="1371600" cy="254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B1txt"/>
          <p:cNvSpPr txBox="1"/>
          <p:nvPr/>
        </p:nvSpPr>
        <p:spPr>
          <a:xfrm>
            <a:off x="731520" y="2094480"/>
            <a:ext cx="49406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marL="228600" indent="-228600">
              <a:buChar char="•"/>
              <a:spcAft>
                <a:spcPts val="300"/>
              </a:spcAft>
              <a:defRPr sz="1400" b="0">
                <a:solidFill>
                  <a:srgbClr val="646464"/>
                </a:solidFill>
                <a:latin typeface="Calibri"/>
              </a:defRPr>
            </a:pPr>
            <a:r>
              <a:t>Zero ML models existed for onion disease on TOM2024 before this project</a:t>
            </a:r>
          </a:p>
          <a:p>
            <a:pPr algn="l" marL="228600" indent="-228600">
              <a:buChar char="•"/>
              <a:spcAft>
                <a:spcPts val="300"/>
              </a:spcAft>
              <a:defRPr sz="1400" b="0">
                <a:solidFill>
                  <a:srgbClr val="646464"/>
                </a:solidFill>
                <a:latin typeface="Calibri"/>
              </a:defRPr>
            </a:pPr>
            <a:r>
              <a:t>First production benchmark across 6 onion disease classes</a:t>
            </a:r>
          </a:p>
          <a:p>
            <a:pPr algn="l" marL="228600" indent="-228600">
              <a:buChar char="•"/>
              <a:defRPr sz="1400" b="0">
                <a:solidFill>
                  <a:srgbClr val="646464"/>
                </a:solidFill>
                <a:latin typeface="Calibri"/>
              </a:defRPr>
            </a:pPr>
            <a:r>
              <a:t>Directly closes gap identified by Appiah et al. (2025, Elsevier)</a:t>
            </a:r>
          </a:p>
        </p:txBody>
      </p:sp>
      <p:sp>
        <p:nvSpPr>
          <p:cNvPr id="9" name="B2bg"/>
          <p:cNvSpPr/>
          <p:nvPr/>
        </p:nvSpPr>
        <p:spPr>
          <a:xfrm>
            <a:off x="6248400" y="1280160"/>
            <a:ext cx="5486400" cy="256032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B2ttl"/>
          <p:cNvSpPr txBox="1"/>
          <p:nvPr/>
        </p:nvSpPr>
        <p:spPr>
          <a:xfrm>
            <a:off x="6522720" y="1463040"/>
            <a:ext cx="494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E7D32"/>
                </a:solidFill>
                <a:latin typeface="Calibri"/>
              </a:defRPr>
            </a:pPr>
            <a:r>
              <a:t>Food Security Impact in West Africa</a:t>
            </a:r>
          </a:p>
        </p:txBody>
      </p:sp>
      <p:sp>
        <p:nvSpPr>
          <p:cNvPr id="11" name="B2ln"/>
          <p:cNvSpPr/>
          <p:nvPr/>
        </p:nvSpPr>
        <p:spPr>
          <a:xfrm>
            <a:off x="6522720" y="2011680"/>
            <a:ext cx="1371600" cy="254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B2txt"/>
          <p:cNvSpPr txBox="1"/>
          <p:nvPr/>
        </p:nvSpPr>
        <p:spPr>
          <a:xfrm>
            <a:off x="6522720" y="2094480"/>
            <a:ext cx="49406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marL="228600" indent="-228600">
              <a:buChar char="•"/>
              <a:spcAft>
                <a:spcPts val="300"/>
              </a:spcAft>
              <a:defRPr sz="1400" b="0">
                <a:solidFill>
                  <a:srgbClr val="646464"/>
                </a:solidFill>
                <a:latin typeface="Calibri"/>
              </a:defRPr>
            </a:pPr>
            <a:r>
              <a:t>Up to 50% crop losses due to undetected pests and diseases</a:t>
            </a:r>
          </a:p>
          <a:p>
            <a:pPr algn="l" marL="228600" indent="-228600">
              <a:buChar char="•"/>
              <a:spcAft>
                <a:spcPts val="300"/>
              </a:spcAft>
              <a:defRPr sz="1400" b="0">
                <a:solidFill>
                  <a:srgbClr val="646464"/>
                </a:solidFill>
                <a:latin typeface="Calibri"/>
              </a:defRPr>
            </a:pPr>
            <a:r>
              <a:t>Expert-level disease diagnosis in any farmer’s hands via smartphone</a:t>
            </a:r>
          </a:p>
          <a:p>
            <a:pPr algn="l" marL="228600" indent="-228600">
              <a:buChar char="•"/>
              <a:defRPr sz="1400" b="0">
                <a:solidFill>
                  <a:srgbClr val="646464"/>
                </a:solidFill>
                <a:latin typeface="Calibri"/>
              </a:defRPr>
            </a:pPr>
            <a:r>
              <a:t>Early intervention that protects yields and farm incomes at scale</a:t>
            </a:r>
          </a:p>
        </p:txBody>
      </p:sp>
      <p:sp>
        <p:nvSpPr>
          <p:cNvPr id="13" name="B3bg"/>
          <p:cNvSpPr/>
          <p:nvPr/>
        </p:nvSpPr>
        <p:spPr>
          <a:xfrm>
            <a:off x="457200" y="4023360"/>
            <a:ext cx="5486400" cy="256032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B3ttl"/>
          <p:cNvSpPr txBox="1"/>
          <p:nvPr/>
        </p:nvSpPr>
        <p:spPr>
          <a:xfrm>
            <a:off x="731520" y="4206240"/>
            <a:ext cx="494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E7D32"/>
                </a:solidFill>
                <a:latin typeface="Calibri"/>
              </a:defRPr>
            </a:pPr>
            <a:r>
              <a:t>Removes Language &amp; Literacy Barriers</a:t>
            </a:r>
          </a:p>
        </p:txBody>
      </p:sp>
      <p:sp>
        <p:nvSpPr>
          <p:cNvPr id="15" name="B3ln"/>
          <p:cNvSpPr/>
          <p:nvPr/>
        </p:nvSpPr>
        <p:spPr>
          <a:xfrm>
            <a:off x="731520" y="4754880"/>
            <a:ext cx="1371600" cy="254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B3txt"/>
          <p:cNvSpPr txBox="1"/>
          <p:nvPr/>
        </p:nvSpPr>
        <p:spPr>
          <a:xfrm>
            <a:off x="731520" y="4837680"/>
            <a:ext cx="49406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marL="228600" indent="-228600">
              <a:buChar char="•"/>
              <a:spcAft>
                <a:spcPts val="300"/>
              </a:spcAft>
              <a:defRPr sz="1400" b="0">
                <a:solidFill>
                  <a:srgbClr val="646464"/>
                </a:solidFill>
                <a:latin typeface="Calibri"/>
              </a:defRPr>
            </a:pPr>
            <a:r>
              <a:t>240+ translated UI strings across 9 local languages</a:t>
            </a:r>
          </a:p>
          <a:p>
            <a:pPr algn="l" marL="228600" indent="-228600">
              <a:buChar char="•"/>
              <a:spcAft>
                <a:spcPts val="300"/>
              </a:spcAft>
              <a:defRPr sz="1400" b="0">
                <a:solidFill>
                  <a:srgbClr val="646464"/>
                </a:solidFill>
                <a:latin typeface="Calibri"/>
              </a:defRPr>
            </a:pPr>
            <a:r>
              <a:t>Google TTS voice playback for all treatment guides</a:t>
            </a:r>
          </a:p>
          <a:p>
            <a:pPr algn="l" marL="228600" indent="-228600">
              <a:buChar char="•"/>
              <a:defRPr sz="1400" b="0">
                <a:solidFill>
                  <a:srgbClr val="646464"/>
                </a:solidFill>
                <a:latin typeface="Calibri"/>
              </a:defRPr>
            </a:pPr>
            <a:r>
              <a:t>Reaches farmers excluded by English-only AgriTech tools</a:t>
            </a:r>
          </a:p>
        </p:txBody>
      </p:sp>
      <p:sp>
        <p:nvSpPr>
          <p:cNvPr id="17" name="B4bg"/>
          <p:cNvSpPr/>
          <p:nvPr/>
        </p:nvSpPr>
        <p:spPr>
          <a:xfrm>
            <a:off x="6248400" y="4023360"/>
            <a:ext cx="5486400" cy="2560320"/>
          </a:xfrm>
          <a:prstGeom prst="rect">
            <a:avLst/>
          </a:prstGeom>
          <a:solidFill>
            <a:srgbClr val="F3E5F5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B4ttl"/>
          <p:cNvSpPr txBox="1"/>
          <p:nvPr/>
        </p:nvSpPr>
        <p:spPr>
          <a:xfrm>
            <a:off x="6522720" y="4206240"/>
            <a:ext cx="494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E7D32"/>
                </a:solidFill>
                <a:latin typeface="Calibri"/>
              </a:defRPr>
            </a:pPr>
            <a:r>
              <a:t>Human-in-the-Loop Feedback Pipeline</a:t>
            </a:r>
          </a:p>
        </p:txBody>
      </p:sp>
      <p:sp>
        <p:nvSpPr>
          <p:cNvPr id="19" name="B4ln"/>
          <p:cNvSpPr/>
          <p:nvPr/>
        </p:nvSpPr>
        <p:spPr>
          <a:xfrm>
            <a:off x="6522720" y="4754880"/>
            <a:ext cx="1371600" cy="254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B4txt"/>
          <p:cNvSpPr txBox="1"/>
          <p:nvPr/>
        </p:nvSpPr>
        <p:spPr>
          <a:xfrm>
            <a:off x="6522720" y="4837680"/>
            <a:ext cx="49406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marL="228600" indent="-228600">
              <a:buChar char="•"/>
              <a:spcAft>
                <a:spcPts val="300"/>
              </a:spcAft>
              <a:defRPr sz="1400" b="0">
                <a:solidFill>
                  <a:srgbClr val="646464"/>
                </a:solidFill>
                <a:latin typeface="Calibri"/>
              </a:defRPr>
            </a:pPr>
            <a:r>
              <a:t>Farmers flag wrong AI predictions directly in the app</a:t>
            </a:r>
          </a:p>
          <a:p>
            <a:pPr algn="l" marL="228600" indent="-228600">
              <a:buChar char="•"/>
              <a:spcAft>
                <a:spcPts val="300"/>
              </a:spcAft>
              <a:defRPr sz="1400" b="0">
                <a:solidFill>
                  <a:srgbClr val="646464"/>
                </a:solidFill>
                <a:latin typeface="Calibri"/>
              </a:defRPr>
            </a:pPr>
            <a:r>
              <a:t>Admins export ML-ready correction ZIPs for model retraining</a:t>
            </a:r>
          </a:p>
          <a:p>
            <a:pPr algn="l" marL="228600" indent="-228600">
              <a:buChar char="•"/>
              <a:defRPr sz="1400" b="0">
                <a:solidFill>
                  <a:srgbClr val="646464"/>
                </a:solidFill>
                <a:latin typeface="Calibri"/>
              </a:defRPr>
            </a:pPr>
            <a:r>
              <a:t>Self-improving data flywheel grounded in real field conditions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dr"/>
          <p:cNvSpPr/>
          <p:nvPr/>
        </p:nvSpPr>
        <p:spPr>
          <a:xfrm>
            <a:off x="0" y="-37708"/>
            <a:ext cx="12191695" cy="109728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itle"/>
          <p:cNvSpPr txBox="1"/>
          <p:nvPr/>
        </p:nvSpPr>
        <p:spPr>
          <a:xfrm>
            <a:off x="731520" y="190893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Conclusion</a:t>
            </a:r>
          </a:p>
        </p:txBody>
      </p:sp>
      <p:sp>
        <p:nvSpPr>
          <p:cNvPr id="4" name="Sub"/>
          <p:cNvSpPr txBox="1"/>
          <p:nvPr/>
        </p:nvSpPr>
        <p:spPr>
          <a:xfrm>
            <a:off x="731520" y="6858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8FFC8"/>
                </a:solidFill>
                <a:latin typeface="Calibri"/>
              </a:defRPr>
            </a:pPr>
            <a:r>
              <a:t>OnionGuard: from research benchmark to live agricultural tool</a:t>
            </a:r>
          </a:p>
        </p:txBody>
      </p:sp>
      <p:sp>
        <p:nvSpPr>
          <p:cNvPr id="5" name="B1bg"/>
          <p:cNvSpPr/>
          <p:nvPr/>
        </p:nvSpPr>
        <p:spPr>
          <a:xfrm>
            <a:off x="457200" y="1280160"/>
            <a:ext cx="5486400" cy="256032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B1ttl"/>
          <p:cNvSpPr txBox="1"/>
          <p:nvPr/>
        </p:nvSpPr>
        <p:spPr>
          <a:xfrm>
            <a:off x="731520" y="1463040"/>
            <a:ext cx="494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E7D32"/>
                </a:solidFill>
                <a:latin typeface="Calibri"/>
              </a:defRPr>
            </a:pPr>
            <a:r>
              <a:t>Technical Achievement</a:t>
            </a:r>
          </a:p>
        </p:txBody>
      </p:sp>
      <p:sp>
        <p:nvSpPr>
          <p:cNvPr id="7" name="B1ln"/>
          <p:cNvSpPr/>
          <p:nvPr/>
        </p:nvSpPr>
        <p:spPr>
          <a:xfrm>
            <a:off x="731520" y="2011680"/>
            <a:ext cx="1371600" cy="254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B1txt"/>
          <p:cNvSpPr txBox="1"/>
          <p:nvPr/>
        </p:nvSpPr>
        <p:spPr>
          <a:xfrm>
            <a:off x="731520" y="2094480"/>
            <a:ext cx="49406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marL="228600" indent="-228600">
              <a:buChar char="•"/>
              <a:spcAft>
                <a:spcPts val="300"/>
              </a:spcAft>
              <a:defRPr sz="1400" b="0">
                <a:solidFill>
                  <a:srgbClr val="646464"/>
                </a:solidFill>
                <a:latin typeface="Calibri"/>
              </a:defRPr>
            </a:pPr>
            <a:r>
              <a:t>93.75% test accuracy on held-out images</a:t>
            </a:r>
          </a:p>
          <a:p>
            <a:pPr algn="l" marL="228600" indent="-228600">
              <a:buChar char="•"/>
              <a:spcAft>
                <a:spcPts val="300"/>
              </a:spcAft>
              <a:defRPr sz="1400" b="0">
                <a:solidFill>
                  <a:srgbClr val="646464"/>
                </a:solidFill>
                <a:latin typeface="Calibri"/>
              </a:defRPr>
            </a:pPr>
            <a:r>
              <a:t>5.72 MB TFLite model runs fully on-device</a:t>
            </a:r>
          </a:p>
          <a:p>
            <a:pPr algn="l" marL="228600" indent="-228600">
              <a:buChar char="•"/>
              <a:defRPr sz="1400" b="0">
                <a:solidFill>
                  <a:srgbClr val="646464"/>
                </a:solidFill>
                <a:latin typeface="Calibri"/>
              </a:defRPr>
            </a:pPr>
            <a:r>
              <a:t>First ever ML benchmark for onion disease on TOM2024</a:t>
            </a:r>
          </a:p>
        </p:txBody>
      </p:sp>
      <p:sp>
        <p:nvSpPr>
          <p:cNvPr id="9" name="B2bg"/>
          <p:cNvSpPr/>
          <p:nvPr/>
        </p:nvSpPr>
        <p:spPr>
          <a:xfrm>
            <a:off x="6248400" y="1280160"/>
            <a:ext cx="5486400" cy="256032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B2ttl"/>
          <p:cNvSpPr txBox="1"/>
          <p:nvPr/>
        </p:nvSpPr>
        <p:spPr>
          <a:xfrm>
            <a:off x="6522720" y="1463040"/>
            <a:ext cx="494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E7D32"/>
                </a:solidFill>
                <a:latin typeface="Calibri"/>
              </a:defRPr>
            </a:pPr>
            <a:r>
              <a:t>Human Impact</a:t>
            </a:r>
          </a:p>
        </p:txBody>
      </p:sp>
      <p:sp>
        <p:nvSpPr>
          <p:cNvPr id="11" name="B2ln"/>
          <p:cNvSpPr/>
          <p:nvPr/>
        </p:nvSpPr>
        <p:spPr>
          <a:xfrm>
            <a:off x="6522720" y="2011680"/>
            <a:ext cx="1371600" cy="254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B2txt"/>
          <p:cNvSpPr txBox="1"/>
          <p:nvPr/>
        </p:nvSpPr>
        <p:spPr>
          <a:xfrm>
            <a:off x="6522720" y="2094480"/>
            <a:ext cx="49406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marL="228600" indent="-228600">
              <a:buChar char="•"/>
              <a:spcAft>
                <a:spcPts val="300"/>
              </a:spcAft>
              <a:defRPr sz="1400" b="0">
                <a:solidFill>
                  <a:srgbClr val="646464"/>
                </a:solidFill>
                <a:latin typeface="Calibri"/>
              </a:defRPr>
            </a:pPr>
            <a:r>
              <a:t>Smallholder farmers lose up to 50% of onion crops to disease</a:t>
            </a:r>
          </a:p>
          <a:p>
            <a:pPr algn="l" marL="228600" indent="-228600">
              <a:buChar char="•"/>
              <a:spcAft>
                <a:spcPts val="300"/>
              </a:spcAft>
              <a:defRPr sz="1400" b="0">
                <a:solidFill>
                  <a:srgbClr val="646464"/>
                </a:solidFill>
                <a:latin typeface="Calibri"/>
              </a:defRPr>
            </a:pPr>
            <a:r>
              <a:t>Expert-grade diagnosis now accessible via any smartphone</a:t>
            </a:r>
          </a:p>
          <a:p>
            <a:pPr algn="l" marL="228600" indent="-228600">
              <a:buChar char="•"/>
              <a:defRPr sz="1400" b="0">
                <a:solidFill>
                  <a:srgbClr val="646464"/>
                </a:solidFill>
                <a:latin typeface="Calibri"/>
              </a:defRPr>
            </a:pPr>
            <a:r>
              <a:t>Culturally accessible: 9 languages with voice-guided treatment</a:t>
            </a:r>
          </a:p>
        </p:txBody>
      </p:sp>
      <p:sp>
        <p:nvSpPr>
          <p:cNvPr id="13" name="B3bg"/>
          <p:cNvSpPr/>
          <p:nvPr/>
        </p:nvSpPr>
        <p:spPr>
          <a:xfrm>
            <a:off x="457200" y="4023360"/>
            <a:ext cx="5486400" cy="256032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B3ttl"/>
          <p:cNvSpPr txBox="1"/>
          <p:nvPr/>
        </p:nvSpPr>
        <p:spPr>
          <a:xfrm>
            <a:off x="731520" y="4206240"/>
            <a:ext cx="494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E7D32"/>
                </a:solidFill>
                <a:latin typeface="Calibri"/>
              </a:defRPr>
            </a:pPr>
            <a:r>
              <a:t>Full-Stack Solution</a:t>
            </a:r>
          </a:p>
        </p:txBody>
      </p:sp>
      <p:sp>
        <p:nvSpPr>
          <p:cNvPr id="15" name="B3ln"/>
          <p:cNvSpPr/>
          <p:nvPr/>
        </p:nvSpPr>
        <p:spPr>
          <a:xfrm>
            <a:off x="731520" y="4754880"/>
            <a:ext cx="1371600" cy="254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B3txt"/>
          <p:cNvSpPr txBox="1"/>
          <p:nvPr/>
        </p:nvSpPr>
        <p:spPr>
          <a:xfrm>
            <a:off x="731520" y="4837680"/>
            <a:ext cx="49406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marL="228600" indent="-228600">
              <a:buChar char="•"/>
              <a:spcAft>
                <a:spcPts val="300"/>
              </a:spcAft>
              <a:defRPr sz="1400" b="0">
                <a:solidFill>
                  <a:srgbClr val="646464"/>
                </a:solidFill>
                <a:latin typeface="Calibri"/>
              </a:defRPr>
            </a:pPr>
            <a:r>
              <a:t>On-device AI + Gemini Vision freshness assessment</a:t>
            </a:r>
          </a:p>
          <a:p>
            <a:pPr algn="l" marL="228600" indent="-228600">
              <a:buChar char="•"/>
              <a:spcAft>
                <a:spcPts val="300"/>
              </a:spcAft>
              <a:defRPr sz="1400" b="0">
                <a:solidFill>
                  <a:srgbClr val="646464"/>
                </a:solidFill>
                <a:latin typeface="Calibri"/>
              </a:defRPr>
            </a:pPr>
            <a:r>
              <a:t>Human-in-the-loop correction pipeline for continuous improvement</a:t>
            </a:r>
          </a:p>
          <a:p>
            <a:pPr algn="l" marL="228600" indent="-228600">
              <a:buChar char="•"/>
              <a:defRPr sz="1400" b="0">
                <a:solidFill>
                  <a:srgbClr val="646464"/>
                </a:solidFill>
                <a:latin typeface="Calibri"/>
              </a:defRPr>
            </a:pPr>
            <a:r>
              <a:t>Microservices on AWS EC2, designed to scale across West Africa</a:t>
            </a:r>
          </a:p>
        </p:txBody>
      </p:sp>
      <p:sp>
        <p:nvSpPr>
          <p:cNvPr id="17" name="B4bg"/>
          <p:cNvSpPr/>
          <p:nvPr/>
        </p:nvSpPr>
        <p:spPr>
          <a:xfrm>
            <a:off x="6248400" y="4023360"/>
            <a:ext cx="5486400" cy="2560320"/>
          </a:xfrm>
          <a:prstGeom prst="rect">
            <a:avLst/>
          </a:prstGeom>
          <a:solidFill>
            <a:srgbClr val="F3E5F5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B4ttl"/>
          <p:cNvSpPr txBox="1"/>
          <p:nvPr/>
        </p:nvSpPr>
        <p:spPr>
          <a:xfrm>
            <a:off x="6522720" y="4206240"/>
            <a:ext cx="494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E7D32"/>
                </a:solidFill>
                <a:latin typeface="Calibri"/>
              </a:defRPr>
            </a:pPr>
            <a:r>
              <a:t>Path Forward</a:t>
            </a:r>
          </a:p>
        </p:txBody>
      </p:sp>
      <p:sp>
        <p:nvSpPr>
          <p:cNvPr id="19" name="B4ln"/>
          <p:cNvSpPr/>
          <p:nvPr/>
        </p:nvSpPr>
        <p:spPr>
          <a:xfrm>
            <a:off x="6522720" y="4754880"/>
            <a:ext cx="1371600" cy="254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B4txt"/>
          <p:cNvSpPr txBox="1"/>
          <p:nvPr/>
        </p:nvSpPr>
        <p:spPr>
          <a:xfrm>
            <a:off x="6522720" y="4837680"/>
            <a:ext cx="49406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marL="228600" indent="-228600">
              <a:buChar char="•"/>
              <a:spcAft>
                <a:spcPts val="300"/>
              </a:spcAft>
              <a:defRPr sz="1400" b="0">
                <a:solidFill>
                  <a:srgbClr val="646464"/>
                </a:solidFill>
                <a:latin typeface="Calibri"/>
              </a:defRPr>
            </a:pPr>
            <a:r>
              <a:t>Live on Google Play Store — beyond the academic prototype</a:t>
            </a:r>
          </a:p>
          <a:p>
            <a:pPr algn="l" marL="228600" indent="-228600">
              <a:buChar char="•"/>
              <a:spcAft>
                <a:spcPts val="300"/>
              </a:spcAft>
              <a:defRPr sz="1400" b="0">
                <a:solidFill>
                  <a:srgbClr val="646464"/>
                </a:solidFill>
                <a:latin typeface="Calibri"/>
              </a:defRPr>
            </a:pPr>
            <a:r>
              <a:t>Field testing on onion farms across Ghana and West Africa</a:t>
            </a:r>
          </a:p>
          <a:p>
            <a:pPr algn="l" marL="228600" indent="-228600">
              <a:buChar char="•"/>
              <a:defRPr sz="1400" b="0">
                <a:solidFill>
                  <a:srgbClr val="646464"/>
                </a:solidFill>
                <a:latin typeface="Calibri"/>
              </a:defRPr>
            </a:pPr>
            <a:r>
              <a:t>Extend to other crops — Maize &amp; Tomato (TOM2024) and other crops with prevalent diseases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dr"/>
          <p:cNvSpPr/>
          <p:nvPr/>
        </p:nvSpPr>
        <p:spPr>
          <a:xfrm>
            <a:off x="0" y="-37708"/>
            <a:ext cx="12191695" cy="109728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itle"/>
          <p:cNvSpPr txBox="1"/>
          <p:nvPr/>
        </p:nvSpPr>
        <p:spPr>
          <a:xfrm>
            <a:off x="731520" y="190893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References</a:t>
            </a:r>
          </a:p>
        </p:txBody>
      </p:sp>
      <p:sp>
        <p:nvSpPr>
          <p:cNvPr id="4" name="Sub"/>
          <p:cNvSpPr txBox="1"/>
          <p:nvPr/>
        </p:nvSpPr>
        <p:spPr>
          <a:xfrm>
            <a:off x="731520" y="6858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8FFC8"/>
                </a:solidFill>
                <a:latin typeface="Calibri"/>
              </a:defRPr>
            </a:pPr>
            <a:r>
              <a:t>Sources cited in this presentation</a:t>
            </a:r>
          </a:p>
        </p:txBody>
      </p:sp>
      <p:sp>
        <p:nvSpPr>
          <p:cNvPr id="5" name="RefBg"/>
          <p:cNvSpPr/>
          <p:nvPr/>
        </p:nvSpPr>
        <p:spPr>
          <a:xfrm>
            <a:off x="457200" y="1280160"/>
            <a:ext cx="11277600" cy="530352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fText"/>
          <p:cNvSpPr txBox="1"/>
          <p:nvPr/>
        </p:nvSpPr>
        <p:spPr>
          <a:xfrm>
            <a:off x="731520" y="1463040"/>
            <a:ext cx="107308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700" b="1">
                <a:solidFill>
                  <a:srgbClr val="2E7D32"/>
                </a:solidFill>
                <a:latin typeface="Calibri"/>
              </a:defRPr>
            </a:pPr>
            <a:r>
              <a:t>Dataset</a:t>
            </a:r>
          </a:p>
          <a:p>
            <a:pPr marL="228600" indent="-228600">
              <a:buChar char="•"/>
              <a:spcAft>
                <a:spcPts val="1000"/>
              </a:spcAft>
              <a:defRPr sz="1500" b="0">
                <a:solidFill>
                  <a:srgbClr val="212121"/>
                </a:solidFill>
                <a:latin typeface="Calibri"/>
              </a:defRPr>
            </a:pPr>
            <a:r>
              <a:t xml:space="preserve">Appiah, M. K., et al. (2025). TOM2024: A multi-class image dataset for maize, tomato and onion disease and pest classification. </a:t>
            </a:r>
            <a:r>
              <a:rPr i="1">
                <a:latin typeface="Calibri"/>
              </a:rPr>
              <a:t>Data in Brief</a:t>
            </a:r>
            <a:r>
              <a:t>, Elsevier. https://doi.org/10.1016/j.dib.2025.111413</a:t>
            </a:r>
          </a:p>
          <a:p>
            <a:pPr>
              <a:spcBef>
                <a:spcPts val="200"/>
              </a:spcBef>
              <a:spcAft>
                <a:spcPts val="300"/>
              </a:spcAft>
              <a:defRPr sz="1700" b="1">
                <a:solidFill>
                  <a:srgbClr val="2E7D32"/>
                </a:solidFill>
                <a:latin typeface="Calibri"/>
              </a:defRPr>
            </a:pPr>
            <a:r>
              <a:t>ML Model</a:t>
            </a:r>
          </a:p>
          <a:p>
            <a:pPr marL="228600" indent="-228600">
              <a:buChar char="•"/>
              <a:spcAft>
                <a:spcPts val="1000"/>
              </a:spcAft>
              <a:defRPr sz="1500" b="0">
                <a:solidFill>
                  <a:srgbClr val="212121"/>
                </a:solidFill>
                <a:latin typeface="Calibri"/>
              </a:defRPr>
            </a:pPr>
            <a:r>
              <a:t xml:space="preserve">Howard, A., et al. (2019). Searching for MobileNetV3. </a:t>
            </a:r>
            <a:r>
              <a:rPr i="1">
                <a:latin typeface="Calibri"/>
              </a:rPr>
              <a:t>IEEE/CVF International Conference on Computer Vision (ICCV)</a:t>
            </a:r>
            <a:r>
              <a:t>. arXiv:1905.02244</a:t>
            </a:r>
          </a:p>
          <a:p>
            <a:pPr>
              <a:spcBef>
                <a:spcPts val="200"/>
              </a:spcBef>
              <a:spcAft>
                <a:spcPts val="300"/>
              </a:spcAft>
              <a:defRPr sz="1700" b="1">
                <a:solidFill>
                  <a:srgbClr val="2E7D32"/>
                </a:solidFill>
                <a:latin typeface="Calibri"/>
              </a:defRPr>
            </a:pPr>
            <a:r>
              <a:t>Project &amp; Application</a:t>
            </a:r>
          </a:p>
          <a:p>
            <a:pPr marL="228600" indent="-228600">
              <a:buChar char="•"/>
              <a:spcAft>
                <a:spcPts val="1000"/>
              </a:spcAft>
              <a:defRPr sz="1500" b="0">
                <a:solidFill>
                  <a:srgbClr val="212121"/>
                </a:solidFill>
                <a:latin typeface="Calibri"/>
              </a:defRPr>
            </a:pPr>
            <a:r>
              <a:t>Nkabom Honours Team. (2026). OnionGuard: AI-Powered Onion Disease Detection [Mobile Application]. University of Ghana. Available on Google Play Store. https://onion-guard.duckdns.org</a:t>
            </a:r>
          </a:p>
          <a:p>
            <a:pPr>
              <a:spcBef>
                <a:spcPts val="200"/>
              </a:spcBef>
              <a:spcAft>
                <a:spcPts val="300"/>
              </a:spcAft>
              <a:defRPr sz="1700" b="1">
                <a:solidFill>
                  <a:srgbClr val="2E7D32"/>
                </a:solidFill>
                <a:latin typeface="Calibri"/>
              </a:defRPr>
            </a:pPr>
            <a:r>
              <a:t>Vision AI</a:t>
            </a:r>
          </a:p>
          <a:p>
            <a:pPr marL="228600" indent="-228600">
              <a:buChar char="•"/>
              <a:defRPr sz="1500" b="0">
                <a:solidFill>
                  <a:srgbClr val="212121"/>
                </a:solidFill>
                <a:latin typeface="Calibri"/>
              </a:defRPr>
            </a:pPr>
            <a:r>
              <a:t>Google. (2025). Gemini 2.5 Flash: Multimodal AI Model. Google DeepMind. https://deepmind.google/technologies/gemini/flash/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246</TotalTime>
  <Words>817</Words>
  <Application>Microsoft Office PowerPoint</Application>
  <PresentationFormat>Widescreen</PresentationFormat>
  <Paragraphs>236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12345</dc:creator>
  <cp:keywords/>
  <dc:description>generated using python-pptx</dc:description>
  <cp:lastModifiedBy>12345</cp:lastModifiedBy>
  <cp:revision>23</cp:revision>
  <dcterms:created xsi:type="dcterms:W3CDTF">2013-01-27T09:14:16Z</dcterms:created>
  <dcterms:modified xsi:type="dcterms:W3CDTF">2026-05-13T22:12:42Z</dcterms:modified>
  <cp:category/>
</cp:coreProperties>
</file>