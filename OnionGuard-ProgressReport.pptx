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5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nion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262" y="457200"/>
            <a:ext cx="27432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OnionGuard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8FFC8"/>
                </a:solidFill>
                <a:latin typeface="Calibri"/>
              </a:defRPr>
            </a:pPr>
            <a:r>
              <a:t>AI-Powered Onion Disease Detection for Farmers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2743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Management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E6B4"/>
                </a:solidFill>
                <a:latin typeface="Calibri"/>
              </a:defRPr>
            </a:pPr>
            <a:r>
              <a:t>Nkabom Honours Team  |  University of Ghana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B3B"/>
                </a:solidFill>
                <a:latin typeface="Calibri"/>
              </a:defRPr>
            </a:pPr>
            <a:r>
              <a:t>Currently in Closed Testing on Google Play Store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8473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Why OnionGuard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200400" cy="20116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32F2F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Crop losses in West Africa</a:t>
            </a:r>
            <a:br/>
            <a:r>
              <a:t>due to pests &amp; diseases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3200400" cy="2011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565C0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Pre-existing ML models for</a:t>
            </a:r>
            <a:br/>
            <a:r>
              <a:t>onion disease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6858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No ML models exist for the TOM2024 onion disease dataset</a:t>
            </a:r>
          </a:p>
          <a:p>
            <a:pPr>
              <a:spcAft>
                <a:spcPts val="12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Limited access to agricultural extension officers in rural areas</a:t>
            </a:r>
          </a:p>
          <a:p>
            <a:pPr>
              <a:spcAft>
                <a:spcPts val="12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Language barriers prevent farmers from accessing disease </a:t>
            </a:r>
            <a:r>
              <a:rPr dirty="0" smtClean="0"/>
              <a:t>info</a:t>
            </a:r>
            <a:r>
              <a:rPr lang="en-US" dirty="0" smtClean="0"/>
              <a:t>rmation</a:t>
            </a:r>
            <a:endParaRPr dirty="0"/>
          </a:p>
          <a:p>
            <a:pPr>
              <a:spcAft>
                <a:spcPts val="12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No affordable diagnostic tools for smallholder farmers</a:t>
            </a:r>
          </a:p>
          <a:p>
            <a:pPr>
              <a:spcAft>
                <a:spcPts val="12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No centralized system for tracking regional disease outbreaks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029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Source: Appiah et al., 2025 (Data in Brief, Elsevier)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OnionGuard mobile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32004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Disease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1031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rPr dirty="0"/>
              <a:t>On-device AI classifies 6 onion</a:t>
            </a:r>
            <a:br>
              <a:rPr dirty="0"/>
            </a:br>
            <a:r>
              <a:rPr dirty="0"/>
              <a:t>conditions from camera photos</a:t>
            </a:r>
            <a:r>
              <a:rPr dirty="0" smtClean="0"/>
              <a:t>.</a:t>
            </a:r>
            <a:endParaRPr lang="en-US" dirty="0" smtClean="0"/>
          </a:p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rPr lang="en-US" dirty="0" smtClean="0"/>
              <a:t>Works Offline</a:t>
            </a:r>
            <a:r>
              <a:rPr dirty="0"/>
              <a:t/>
            </a:r>
            <a:br>
              <a:rPr dirty="0"/>
            </a:b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337560" y="1645920"/>
            <a:ext cx="2651760" cy="32004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Freshness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6517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Gemini Vision AI evaluates</a:t>
            </a:r>
            <a:br/>
            <a:r>
              <a:t>onion freshness with storage</a:t>
            </a:r>
            <a:br/>
            <a:r>
              <a:t>recommendations.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51760" cy="32004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Treatment Guides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Detailed treatment in 5 languages</a:t>
            </a:r>
            <a:br/>
            <a:r>
              <a:t>with voice playback for</a:t>
            </a:r>
            <a:br/>
            <a:r>
              <a:t>low-literacy farmers.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645920"/>
            <a:ext cx="2651760" cy="32004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26517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Personal &amp; regional disease</a:t>
            </a:r>
            <a:br/>
            <a:r>
              <a:t>tracking dashboards for</a:t>
            </a:r>
            <a:br/>
            <a:r>
              <a:t>farmers and officers.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rPr dirty="0"/>
              <a:t>Security:  JWT </a:t>
            </a:r>
            <a:r>
              <a:rPr dirty="0" err="1"/>
              <a:t>Auth</a:t>
            </a:r>
            <a:r>
              <a:rPr dirty="0"/>
              <a:t>  +  </a:t>
            </a:r>
            <a:r>
              <a:rPr dirty="0" err="1"/>
              <a:t>Bcrypt</a:t>
            </a:r>
            <a:r>
              <a:rPr dirty="0"/>
              <a:t>  +  Biometric Login  +  HTTPS (TLS 1.2/1.3)  +  Let's Encrypt SSL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Machine Learning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MobileNetV3-Large trained on TOM2024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Model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rPr dirty="0"/>
              <a:t>Base: MobileNetV3-Large (ImageNet </a:t>
            </a:r>
            <a:r>
              <a:rPr dirty="0" err="1"/>
              <a:t>pretrained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rPr dirty="0"/>
              <a:t>Input: 224 x 224 x 3 RGB images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rPr dirty="0"/>
              <a:t>Output: 6 disease classes with confidence scores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rPr dirty="0"/>
              <a:t>Training: 3-stage progressive fine-tuning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rPr dirty="0"/>
              <a:t>Quantization: Float16 for mobile deployment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rPr dirty="0"/>
              <a:t>Size: 5.72 MB (</a:t>
            </a:r>
            <a:r>
              <a:rPr dirty="0" err="1"/>
              <a:t>TFLite</a:t>
            </a:r>
            <a:r>
              <a:rPr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TOM2024 Dataset (Onion Subset)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92024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Caterpillar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Pest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879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Fusarium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738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679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Alternaria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515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Virosis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Bulb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3-Stage Progressive Fine-Tuning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dirty="0"/>
              <a:t>Phase 1: Classifier head only (20 </a:t>
            </a:r>
            <a:r>
              <a:rPr dirty="0" smtClean="0"/>
              <a:t>epochs)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480559" y="539496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dirty="0"/>
              <a:t>Phase 2: Unfreeze 30% backbone (25 </a:t>
            </a:r>
            <a:r>
              <a:rPr dirty="0" smtClean="0"/>
              <a:t>epochs)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599" y="539496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dirty="0"/>
              <a:t>Phase 3: Full fine-tuning (15 </a:t>
            </a:r>
            <a:r>
              <a:rPr dirty="0" smtClean="0"/>
              <a:t>epochs)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Evaluation on held-out test set (304 images)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20040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E7D32"/>
                </a:solidFill>
                <a:latin typeface="Calibri"/>
              </a:defRPr>
            </a:pPr>
            <a:r>
              <a:t>93.75%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12121"/>
                </a:solidFill>
                <a:latin typeface="Calibri"/>
              </a:defRPr>
            </a:pPr>
            <a:r>
              <a:t>Overall 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464"/>
                </a:solidFill>
                <a:latin typeface="Calibri"/>
              </a:defRPr>
            </a:pPr>
            <a:r>
              <a:t>TFLite: 93.75%  |  Size: 5.72 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Classification Report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0" y="18288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Alternaria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87.80%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Bulb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Caterpillar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98.73%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rPr dirty="0" err="1"/>
                        <a:t>Fusarium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83.95%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Virosis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Macro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0.940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0.951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0.944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1338" y="450826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rPr dirty="0"/>
              <a:t>Key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36" y="496546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Caterpillar, Healthy, </a:t>
            </a:r>
            <a:r>
              <a:rPr dirty="0" err="1"/>
              <a:t>Virosis</a:t>
            </a:r>
            <a:r>
              <a:rPr dirty="0"/>
              <a:t> &amp; Bulb Blight achieve 98-100% accuracy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Fusarium</a:t>
            </a:r>
            <a:r>
              <a:rPr dirty="0"/>
              <a:t> (83.95%) shows lowest accuracy due to visual similarity with </a:t>
            </a:r>
            <a:r>
              <a:rPr dirty="0" err="1"/>
              <a:t>Alternaria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Class weights handle imbalance effectively (879 Caterpillar vs 30 Bulb Blight)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TFLite</a:t>
            </a:r>
            <a:r>
              <a:rPr dirty="0"/>
              <a:t> quantization maintains full accuracy with 5.72 MB model size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Mobile Application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Home  |  Freshness  |  AI Analysis  |  Disease Detection</a:t>
            </a:r>
          </a:p>
        </p:txBody>
      </p:sp>
      <p:pic>
        <p:nvPicPr>
          <p:cNvPr id="5" name="Picture 4" descr="oniongu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256032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Home Screen</a:t>
            </a:r>
          </a:p>
        </p:txBody>
      </p:sp>
      <p:pic>
        <p:nvPicPr>
          <p:cNvPr id="7" name="Picture 6" descr="onionguar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56032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Freshness Check</a:t>
            </a:r>
          </a:p>
        </p:txBody>
      </p:sp>
      <p:pic>
        <p:nvPicPr>
          <p:cNvPr id="9" name="Picture 8" descr="onionguard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71600"/>
            <a:ext cx="256032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AI Analysis</a:t>
            </a:r>
          </a:p>
        </p:txBody>
      </p:sp>
      <p:pic>
        <p:nvPicPr>
          <p:cNvPr id="11" name="Picture 10" descr="onionguard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371600"/>
            <a:ext cx="2560320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5256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Disease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Mobile Application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Analytics  |  Settings  |  Login</a:t>
            </a:r>
          </a:p>
        </p:txBody>
      </p:sp>
      <p:pic>
        <p:nvPicPr>
          <p:cNvPr id="5" name="Picture 4" descr="onionguar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371600"/>
            <a:ext cx="256032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Farm Analytics</a:t>
            </a:r>
          </a:p>
        </p:txBody>
      </p:sp>
      <p:pic>
        <p:nvPicPr>
          <p:cNvPr id="7" name="Picture 6" descr="onionguard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371600"/>
            <a:ext cx="256032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8056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Settings</a:t>
            </a:r>
          </a:p>
        </p:txBody>
      </p:sp>
      <p:pic>
        <p:nvPicPr>
          <p:cNvPr id="9" name="Picture 8" descr="onionguard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371600"/>
            <a:ext cx="256032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Secure Login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Microservices deployed on AWS EC2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463040"/>
            <a:ext cx="274320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Flutter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377440"/>
            <a:ext cx="274320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300"/>
                </a:solidFill>
                <a:latin typeface="Calibri"/>
              </a:defRPr>
            </a:pPr>
            <a:r>
              <a:t>Nginx + SSL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291840"/>
            <a:ext cx="27432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3383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API Gateway :8000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2148840"/>
            <a:ext cx="457200" cy="228600"/>
          </a:xfrm>
          <a:prstGeom prst="down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5852160" y="3063240"/>
            <a:ext cx="457200" cy="228600"/>
          </a:xfrm>
          <a:prstGeom prst="down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71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Auth</a:t>
            </a:r>
            <a:br/>
            <a:r>
              <a:t>:8001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Diagnosis</a:t>
            </a:r>
            <a:br/>
            <a:r>
              <a:t>:8002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Treatment</a:t>
            </a:r>
            <a:br/>
            <a:r>
              <a:t>:8003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Analytics</a:t>
            </a:r>
            <a:br/>
            <a:r>
              <a:t>:8004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852160" y="5257800"/>
            <a:ext cx="457200" cy="228600"/>
          </a:xfrm>
          <a:prstGeom prst="down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0" y="5577840"/>
            <a:ext cx="576072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56692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MongoDB Atlas (Cloud Database)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AWS EC2 + Docker + HTTPS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4754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65C0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AWS EC2 instance hosting all services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Docker + Docker Compose orchestration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7 containers: Nginx, Certbot, Gateway, Auth, Diagnosis, Treatment, Analytics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Backend ports internal only (not exposed)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Nginx handles ports 80 &amp; 443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Auto-restart policies for reliability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HTTPS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DuckDNS: onion-guard.duckdns.org domain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Let's Encrypt SSL (auto-renewed every 12h)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TLS 1.2/1.3 with strong cipher suites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HTTP auto-redirects to HTTPS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JWT + Bcrypt authentication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Biometric login (fingerprint/face)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Cleartext traffic blocked in Android manifest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280160"/>
            <a:ext cx="8503920" cy="5394960"/>
          </a:xfrm>
          <a:prstGeom prst="rect">
            <a:avLst/>
          </a:prstGeom>
          <a:solidFill>
            <a:srgbClr val="FAFDF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81328" y="1920240"/>
            <a:ext cx="329184" cy="329184"/>
          </a:xfrm>
          <a:prstGeom prst="ellipse">
            <a:avLst/>
          </a:prstGeom>
          <a:solidFill>
            <a:srgbClr val="2E7D32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20520" y="2286000"/>
            <a:ext cx="5080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44752" y="2359152"/>
            <a:ext cx="402336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36192" y="2606040"/>
            <a:ext cx="3810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19072" y="2606040"/>
            <a:ext cx="3810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Farmer</a:t>
            </a:r>
          </a:p>
        </p:txBody>
      </p:sp>
      <p:sp>
        <p:nvSpPr>
          <p:cNvPr id="13" name="Oval 12"/>
          <p:cNvSpPr/>
          <p:nvPr/>
        </p:nvSpPr>
        <p:spPr>
          <a:xfrm>
            <a:off x="1481328" y="3749040"/>
            <a:ext cx="329184" cy="329184"/>
          </a:xfrm>
          <a:prstGeom prst="ellipse">
            <a:avLst/>
          </a:prstGeom>
          <a:solidFill>
            <a:srgbClr val="1565C0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20520" y="4114800"/>
            <a:ext cx="50800" cy="320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44752" y="4187952"/>
            <a:ext cx="402336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36192" y="4434840"/>
            <a:ext cx="38100" cy="228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19072" y="4434840"/>
            <a:ext cx="38100" cy="228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565C0"/>
                </a:solidFill>
                <a:latin typeface="Calibri"/>
              </a:defRPr>
            </a:pPr>
            <a:r>
              <a:t>Extension</a:t>
            </a:r>
            <a:br/>
            <a:r>
              <a:t>Officer</a:t>
            </a:r>
          </a:p>
        </p:txBody>
      </p:sp>
      <p:sp>
        <p:nvSpPr>
          <p:cNvPr id="19" name="Oval 18"/>
          <p:cNvSpPr/>
          <p:nvPr/>
        </p:nvSpPr>
        <p:spPr>
          <a:xfrm>
            <a:off x="1481328" y="5394960"/>
            <a:ext cx="329184" cy="329184"/>
          </a:xfrm>
          <a:prstGeom prst="ellipse">
            <a:avLst/>
          </a:prstGeom>
          <a:solidFill>
            <a:srgbClr val="6A1B9A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20520" y="5760720"/>
            <a:ext cx="50800" cy="3200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44752" y="5833872"/>
            <a:ext cx="402336" cy="381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536192" y="6080760"/>
            <a:ext cx="38100" cy="228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719072" y="6080760"/>
            <a:ext cx="38100" cy="228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6355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A1B9A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25" name="Oval 24"/>
          <p:cNvSpPr/>
          <p:nvPr/>
        </p:nvSpPr>
        <p:spPr>
          <a:xfrm>
            <a:off x="3657600" y="173736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Scan Disease</a:t>
            </a:r>
          </a:p>
        </p:txBody>
      </p:sp>
      <p:sp>
        <p:nvSpPr>
          <p:cNvPr id="26" name="Oval 25"/>
          <p:cNvSpPr/>
          <p:nvPr/>
        </p:nvSpPr>
        <p:spPr>
          <a:xfrm>
            <a:off x="3657600" y="233172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Check Freshness</a:t>
            </a:r>
          </a:p>
        </p:txBody>
      </p:sp>
      <p:sp>
        <p:nvSpPr>
          <p:cNvPr id="27" name="Oval 26"/>
          <p:cNvSpPr/>
          <p:nvPr/>
        </p:nvSpPr>
        <p:spPr>
          <a:xfrm>
            <a:off x="3657600" y="292608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View Treatment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173736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Voice Playback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233172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Scan History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292608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Personal Analytics</a:t>
            </a:r>
          </a:p>
        </p:txBody>
      </p:sp>
      <p:sp>
        <p:nvSpPr>
          <p:cNvPr id="31" name="Oval 30"/>
          <p:cNvSpPr/>
          <p:nvPr/>
        </p:nvSpPr>
        <p:spPr>
          <a:xfrm>
            <a:off x="3657600" y="3566160"/>
            <a:ext cx="2103120" cy="5029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Scan Disease</a:t>
            </a:r>
          </a:p>
        </p:txBody>
      </p:sp>
      <p:sp>
        <p:nvSpPr>
          <p:cNvPr id="32" name="Oval 31"/>
          <p:cNvSpPr/>
          <p:nvPr/>
        </p:nvSpPr>
        <p:spPr>
          <a:xfrm>
            <a:off x="3657600" y="4160520"/>
            <a:ext cx="2103120" cy="5029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Check Freshness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3566160"/>
            <a:ext cx="2103120" cy="5029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View All Scans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160520"/>
            <a:ext cx="2103120" cy="5029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Regional Trends</a:t>
            </a:r>
          </a:p>
        </p:txBody>
      </p:sp>
      <p:sp>
        <p:nvSpPr>
          <p:cNvPr id="35" name="Oval 34"/>
          <p:cNvSpPr/>
          <p:nvPr/>
        </p:nvSpPr>
        <p:spPr>
          <a:xfrm>
            <a:off x="3657600" y="5212080"/>
            <a:ext cx="2103120" cy="502920"/>
          </a:xfrm>
          <a:prstGeom prst="ellipse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Scan Disease</a:t>
            </a:r>
          </a:p>
        </p:txBody>
      </p:sp>
      <p:sp>
        <p:nvSpPr>
          <p:cNvPr id="36" name="Oval 35"/>
          <p:cNvSpPr/>
          <p:nvPr/>
        </p:nvSpPr>
        <p:spPr>
          <a:xfrm>
            <a:off x="3657600" y="5806440"/>
            <a:ext cx="2103120" cy="502920"/>
          </a:xfrm>
          <a:prstGeom prst="ellipse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Check Freshness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5212080"/>
            <a:ext cx="2103120" cy="502920"/>
          </a:xfrm>
          <a:prstGeom prst="ellipse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Manage Users</a:t>
            </a:r>
          </a:p>
        </p:txBody>
      </p:sp>
      <p:sp>
        <p:nvSpPr>
          <p:cNvPr id="38" name="Oval 37"/>
          <p:cNvSpPr/>
          <p:nvPr/>
        </p:nvSpPr>
        <p:spPr>
          <a:xfrm>
            <a:off x="6583680" y="5806440"/>
            <a:ext cx="2103120" cy="502920"/>
          </a:xfrm>
          <a:prstGeom prst="ellipse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Platform Analytics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2286000" y="0"/>
            <a:ext cx="1371600" cy="0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286000" y="0"/>
            <a:ext cx="4023360" cy="0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286000" y="0"/>
            <a:ext cx="1371600" cy="0"/>
          </a:xfrm>
          <a:prstGeom prst="line">
            <a:avLst/>
          </a:prstGeom>
          <a:ln w="1905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86000" y="0"/>
            <a:ext cx="4023360" cy="0"/>
          </a:xfrm>
          <a:prstGeom prst="line">
            <a:avLst/>
          </a:prstGeom>
          <a:ln w="1905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286000" y="0"/>
            <a:ext cx="1371600" cy="0"/>
          </a:xfrm>
          <a:prstGeom prst="line">
            <a:avLst/>
          </a:prstGeom>
          <a:ln w="1905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286000" y="0"/>
            <a:ext cx="4023360" cy="0"/>
          </a:xfrm>
          <a:prstGeom prst="line">
            <a:avLst/>
          </a:prstGeom>
          <a:ln w="1905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410931" y="1361671"/>
            <a:ext cx="2286000" cy="1371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91865" y="142724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Calibri"/>
              </a:defRPr>
            </a:pPr>
            <a:r>
              <a:rPr dirty="0"/>
              <a:t>Legend</a:t>
            </a:r>
          </a:p>
        </p:txBody>
      </p:sp>
      <p:sp>
        <p:nvSpPr>
          <p:cNvPr id="55" name="Oval 54"/>
          <p:cNvSpPr/>
          <p:nvPr/>
        </p:nvSpPr>
        <p:spPr>
          <a:xfrm>
            <a:off x="9784080" y="187452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126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7D32"/>
                </a:solidFill>
                <a:latin typeface="Calibri"/>
              </a:defRPr>
            </a:pPr>
            <a:r>
              <a:t>Farmer</a:t>
            </a:r>
          </a:p>
        </p:txBody>
      </p:sp>
      <p:sp>
        <p:nvSpPr>
          <p:cNvPr id="57" name="Oval 56"/>
          <p:cNvSpPr/>
          <p:nvPr/>
        </p:nvSpPr>
        <p:spPr>
          <a:xfrm>
            <a:off x="9784080" y="2194560"/>
            <a:ext cx="137160" cy="13716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01268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565C0"/>
                </a:solidFill>
                <a:latin typeface="Calibri"/>
              </a:defRPr>
            </a:pPr>
            <a:r>
              <a:t>Extension Officer</a:t>
            </a:r>
          </a:p>
        </p:txBody>
      </p:sp>
      <p:sp>
        <p:nvSpPr>
          <p:cNvPr id="59" name="Oval 58"/>
          <p:cNvSpPr/>
          <p:nvPr/>
        </p:nvSpPr>
        <p:spPr>
          <a:xfrm>
            <a:off x="9784080" y="251460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012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1B9A"/>
                </a:solidFill>
                <a:latin typeface="Calibri"/>
              </a:defRPr>
            </a:pPr>
            <a:r>
              <a:t>Admin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Multi-Language &amp; Voice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Accessible to low-literacy farmers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5 Supported Languages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Ashanti 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Dagbani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Northern Ghana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Volta 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Hausa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West Africa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Voice &amp; 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240+ translated UI strings across all languages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Google TTS voice playback for treatment guides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Audio treatment instructions in all 5 languages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Language preference persists per user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Designed for farmers with limited literacy</a:t>
            </a:r>
          </a:p>
          <a:p>
            <a:pPr>
              <a:spcAft>
                <a:spcPts val="12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OpenRouter LLM for dynamic content translation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Full-stack modern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Flutter / Dart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FastAPI / Python 3.11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MongoDB Atlas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ML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TensorFlow 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Vision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Google Gemini 2.5 Flash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Google TTS (gTTS)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State Mgmt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Provider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630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Charts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fl_chart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1488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JWT + Bcrypt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8346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Biometrics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local_auth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5204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Containers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Docker + Compose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2062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Proxy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Nginx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8920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SSL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Let's Encrypt + Certbot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5778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DNS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DuckDNS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Features Discussed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Future development and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Fingerprint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Biometric login using fingerprint</a:t>
            </a:r>
            <a:br/>
            <a:r>
              <a:t>and face recognition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530352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LLM Disease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AI-generated contextual advice</a:t>
            </a:r>
            <a:br/>
            <a:r>
              <a:t>when a disease is detected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53035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Farmers to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Marketplace connecting farmers</a:t>
            </a:r>
            <a:br/>
            <a:r>
              <a:t>directly to buyers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66360"/>
            <a:ext cx="530352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Freshness to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Share freshness results as</a:t>
            </a:r>
            <a:br/>
            <a:r>
              <a:t>proof of quality for buyers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53035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300"/>
                </a:solidFill>
                <a:latin typeface="Calibri"/>
              </a:defRPr>
            </a:pPr>
            <a:r>
              <a:t>Simplify Admin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965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Remove/restructure admin role</a:t>
            </a:r>
            <a:br/>
            <a:r>
              <a:t>from the main app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697480"/>
            <a:ext cx="5303520" cy="10972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A1B9A"/>
                </a:solidFill>
                <a:latin typeface="Calibri"/>
              </a:defRPr>
            </a:pPr>
            <a:r>
              <a:t>Enhanced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Richer charts, trends over time,</a:t>
            </a:r>
            <a:br/>
            <a:r>
              <a:t>comparative &amp; actionable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31920"/>
            <a:ext cx="53035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300"/>
                </a:solidFill>
                <a:latin typeface="Calibri"/>
              </a:defRPr>
            </a:pPr>
            <a:r>
              <a:t>Voice for All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34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Read all app content in local</a:t>
            </a:r>
            <a:br/>
            <a:r>
              <a:t>languages for accessibility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166360"/>
            <a:ext cx="5303520" cy="10972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Calibri"/>
              </a:defRPr>
            </a:pPr>
            <a:r>
              <a:t>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API keys for additional services</a:t>
            </a:r>
            <a:br/>
            <a:r>
              <a:t>Apple Developer account for iOS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Google Play Store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Currently in closed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8503920" cy="3657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Closed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834640"/>
            <a:ext cx="301752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320040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App bundle uploaded and under review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Minimum 12 testers required to opt-in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14-day closed testing period before production access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Production release pending successful testing phase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nion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7" y="91440"/>
            <a:ext cx="27432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301752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FFC8"/>
                </a:solidFill>
                <a:latin typeface="Calibri"/>
              </a:defRPr>
            </a:pPr>
            <a:r>
              <a:t>Nkabom Honours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E6B4"/>
                </a:solidFill>
                <a:latin typeface="Calibri"/>
              </a:defRPr>
            </a:pPr>
            <a:r>
              <a:t>University of Ghana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DCA0"/>
                </a:solidFill>
                <a:latin typeface="Calibri"/>
              </a:defRPr>
            </a:pPr>
            <a:r>
              <a:t>OnionGuard  |  AI-Powered Onion Disease Detection</a:t>
            </a:r>
            <a:br/>
            <a:r>
              <a:t>https://onion-guard.duckdns.org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829</Words>
  <Application>Microsoft Office PowerPoint</Application>
  <PresentationFormat>Widescreen</PresentationFormat>
  <Paragraphs>257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12345</dc:creator>
  <cp:keywords/>
  <dc:description>generated using python-pptx</dc:description>
  <cp:lastModifiedBy>12345</cp:lastModifiedBy>
  <cp:revision>10</cp:revision>
  <dcterms:created xsi:type="dcterms:W3CDTF">2013-01-27T09:14:16Z</dcterms:created>
  <dcterms:modified xsi:type="dcterms:W3CDTF">2026-04-09T16:46:39Z</dcterms:modified>
  <cp:category/>
</cp:coreProperties>
</file>